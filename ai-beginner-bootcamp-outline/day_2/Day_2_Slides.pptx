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energy. Say: 'Yesterday we gave our AI a brain. Today we give it hands.' Remind the room that on Day 1 they learned how to prompt and shape an AI's thinking, and that everything they built was still trapped inside a conversation box. Today changes that. Reassure the non-technical folks in the room that nothing here requires programming, only clear thinking about what work needs doing. Ask for a quick show of hands: who has ever asked an AI something and gotten an answer that was confidently out of date? Keep that memory alive, because the next slide explains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picture the room can feel: imagine hiring the most well-read graduate in Nigeria, then locking them in a room with no phone, no internet, and no filing cabinet. Ask them for last month's sales figures and they will either say 'I don't know' or, worse, invent something that sounds right. That is a language model without tools. Emphasise gently that hallucination is often not stupidity, it is a missing connection to reality. Land the point clearly: most people try to solve this with better prompting, but the real solution is giving the model a door to the outside world.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term simply and then de-mystify it. A tool is just a described capability. In practice a tool has three parts: a name, a description of when it should be used, and the inputs it expects. That description is written in plain English, which is why this is a knowledge worker skill and not just a developer skill. Give a concrete example out loud: a tool called search_web, described as 'use this whenever you need current information you do not already know', which takes one input, a search query. Stress that the AI decides when to reach for it, based on the description you wrote. Bad description, bad decisions.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why we start with search rather than anything flashier. It solves the pain everyone already feels, and it makes the AI's answers verifiable. Walk through what happens under the hood in human terms: you ask a question, the AI decides it needs fresh facts, it writes a search query the way a skilled researcher would, it reads the returned pages, and then it summarises with citations. Highlight the underrated part, which is that the AI is often better than us at writing several good queries quickly. If you have a live demo available, run one real question here, ideally something time-sensitive like current market prices or a policy change, so the room sees the difference against yesterday's tool-free answer.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concept of the whole bootcamp, so slow down here. Draw the loop on the board if you can. Explain that a tool-using AI is not a one-shot question and answer any more, it is a small cycle of reasoning and action, and it can go around that cycle several times. Give a worked example aloud: 'What is the naira equivalent of our new $49 subscription price, and how does that compare to last quarter?' The AI searches for today's rate, observes it, realises it also needs the older rate, searches again, does the arithmetic, and only then answers. Name the pattern for them so it sticks: this loop is what people mean when they say 'agent'. Everything on Days 3 through 5 is built on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 from the single search tool to the wider picture, but keep the advice restrained. Go through each category and ask the room which one would save them the most time this week. The calculator point deserves a moment: models predict text, so they can be wrong on exact figures, and handing arithmetic to a real calculator is a genuine reliability upgrade rather than a nice-to-have. End with the discipline point, because it is the mistake most beginners make. Too many overlapping tools means the AI picks the wrong one. Fewer, clearly described tools beat a long list every time. Tell them today's build uses just search plus a calculator.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protects them from an expensive lesson, so do not rush it. Explain that search-grounded answers are far more trustworthy, but the AI is still summarising, and summaries can drift from the source. Insisting on links makes verification cheap. Then make the permissions point vivid with a simple contrast: an assistant that reads your inbox is helpful, an assistant that sends from your inbox unsupervised is a risk to your reputation. Offer the rule of thumb they should carry out of the room: automate reading and drafting freely, and require a human click for sending, paying, publishing, or deleting. Frame this as professional judgement, not fear.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Shift into build mode and set clear expectations for the lab. Everyone will end the session with a working assistant that can answer questions about things that happened this week. Encourage them to test it with a question from their actual job rather than a toy example, because that is where the insight lives. Ask them to watch the tool calls as they happen, since seeing the AI choose a tool makes the concept concrete in a way slides cannot. For homework, keep it light: one paragraph describing a tool they wish they had, in plain language. Close warmly. Say: 'You gave it hands today. Tomorrow we give it memory, so it stops forgetting everything you told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itle 1"/>
          <p:cNvSpPr>
            <a:spLocks noGrp="1"/>
          </p:cNvSpPr>
          <p:nvPr>
            <p:ph type="ctrTitle"/>
          </p:nvPr>
        </p:nvSpPr>
        <p:spPr/>
        <p:txBody>
          <a:bodyPr/>
          <a:lstStyle/>
          <a:p>
            <a:pPr>
              <a:defRPr sz="4000" b="1">
                <a:solidFill>
                  <a:srgbClr val="00E5FF"/>
                </a:solidFill>
                <a:latin typeface="Arial"/>
              </a:defRPr>
            </a:pPr>
            <a:r>
              <a:t>Day 2: Give it Hands (Tools &amp; Search)</a:t>
            </a:r>
          </a:p>
        </p:txBody>
      </p:sp>
      <p:sp>
        <p:nvSpPr>
          <p:cNvPr id="3" name="Subtitle 2"/>
          <p:cNvSpPr>
            <a:spLocks noGrp="1"/>
          </p:cNvSpPr>
          <p:nvPr>
            <p:ph type="subTitle" idx="1"/>
          </p:nvPr>
        </p:nvSpPr>
        <p:spPr/>
        <p:txBody>
          <a:bodyPr/>
          <a:lstStyle/>
          <a:p>
            <a:pPr>
              <a:defRPr sz="2400">
                <a:solidFill>
                  <a:srgbClr val="FFFFFF"/>
                </a:solidFill>
              </a:defRPr>
            </a:pPr>
            <a:r>
              <a:t>AgenticLabs.ng AI Bootcamp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00E5FF"/>
                </a:solidFill>
                <a:latin typeface="Arial"/>
              </a:defRPr>
            </a:pPr>
            <a:r>
              <a:t>Day 2: Give It Hands</a:t>
            </a:r>
          </a:p>
        </p:txBody>
      </p:sp>
      <p:sp>
        <p:nvSpPr>
          <p:cNvPr id="3" name="Content Placeholder 2"/>
          <p:cNvSpPr>
            <a:spLocks noGrp="1"/>
          </p:cNvSpPr>
          <p:nvPr>
            <p:ph idx="1"/>
          </p:nvPr>
        </p:nvSpPr>
        <p:spPr/>
        <p:txBody>
          <a:bodyPr/>
          <a:lstStyle/>
          <a:p/>
          <a:p>
            <a:pPr>
              <a:defRPr sz="2400">
                <a:solidFill>
                  <a:srgbClr val="FFFFFF"/>
                </a:solidFill>
                <a:latin typeface="Arial"/>
              </a:defRPr>
            </a:pPr>
            <a:r>
              <a:t>Yesterday your AI could think and talk. Today it can act.</a:t>
            </a:r>
          </a:p>
          <a:p>
            <a:pPr>
              <a:defRPr sz="2400">
                <a:solidFill>
                  <a:srgbClr val="FFFFFF"/>
                </a:solidFill>
                <a:latin typeface="Arial"/>
              </a:defRPr>
            </a:pPr>
            <a:r>
              <a:t>Tools are what turn a clever chatbot into a working assistant.</a:t>
            </a:r>
          </a:p>
          <a:p>
            <a:pPr>
              <a:defRPr sz="2400">
                <a:solidFill>
                  <a:srgbClr val="FFFFFF"/>
                </a:solidFill>
                <a:latin typeface="Arial"/>
              </a:defRPr>
            </a:pPr>
            <a:r>
              <a:t>By the end of today you will have built an assistant that researches live information for you.</a:t>
            </a:r>
          </a:p>
          <a:p>
            <a:pPr>
              <a:defRPr sz="2400">
                <a:solidFill>
                  <a:srgbClr val="FFFFFF"/>
                </a:solidFill>
                <a:latin typeface="Arial"/>
              </a:defRPr>
            </a:pPr>
            <a:r>
              <a:t>No coding background needed. If you can write clear instructions, you can do this.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00E5FF"/>
                </a:solidFill>
                <a:latin typeface="Arial"/>
              </a:defRPr>
            </a:pPr>
            <a:r>
              <a:t>The Problem: A Brilliant Assistant Locked in a Room</a:t>
            </a:r>
          </a:p>
        </p:txBody>
      </p:sp>
      <p:sp>
        <p:nvSpPr>
          <p:cNvPr id="3" name="Content Placeholder 2"/>
          <p:cNvSpPr>
            <a:spLocks noGrp="1"/>
          </p:cNvSpPr>
          <p:nvPr>
            <p:ph idx="1"/>
          </p:nvPr>
        </p:nvSpPr>
        <p:spPr/>
        <p:txBody>
          <a:bodyPr/>
          <a:lstStyle/>
          <a:p/>
          <a:p>
            <a:pPr>
              <a:defRPr sz="2400">
                <a:solidFill>
                  <a:srgbClr val="FFFFFF"/>
                </a:solidFill>
                <a:latin typeface="Arial"/>
              </a:defRPr>
            </a:pPr>
            <a:r>
              <a:t>A plain language model only knows what it learned during training. It has a cutoff date.</a:t>
            </a:r>
          </a:p>
          <a:p>
            <a:pPr>
              <a:defRPr sz="2400">
                <a:solidFill>
                  <a:srgbClr val="FFFFFF"/>
                </a:solidFill>
                <a:latin typeface="Arial"/>
              </a:defRPr>
            </a:pPr>
            <a:r>
              <a:t>It cannot check today's exchange rate, read your company's price list, or open your inbox.</a:t>
            </a:r>
          </a:p>
          <a:p>
            <a:pPr>
              <a:defRPr sz="2400">
                <a:solidFill>
                  <a:srgbClr val="FFFFFF"/>
                </a:solidFill>
                <a:latin typeface="Arial"/>
              </a:defRPr>
            </a:pPr>
            <a:r>
              <a:t>When it does not know, it sometimes guesses fluently. That is where hallucinations come from.</a:t>
            </a:r>
          </a:p>
          <a:p>
            <a:pPr>
              <a:defRPr sz="2400">
                <a:solidFill>
                  <a:srgbClr val="FFFFFF"/>
                </a:solidFill>
                <a:latin typeface="Arial"/>
              </a:defRPr>
            </a:pPr>
            <a:r>
              <a:t>The fix is not a smarter brain. The fix is access.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00E5FF"/>
                </a:solidFill>
                <a:latin typeface="Arial"/>
              </a:defRPr>
            </a:pPr>
            <a:r>
              <a:t>So What Is a 'Tool', Really?</a:t>
            </a:r>
          </a:p>
        </p:txBody>
      </p:sp>
      <p:sp>
        <p:nvSpPr>
          <p:cNvPr id="3" name="Content Placeholder 2"/>
          <p:cNvSpPr>
            <a:spLocks noGrp="1"/>
          </p:cNvSpPr>
          <p:nvPr>
            <p:ph idx="1"/>
          </p:nvPr>
        </p:nvSpPr>
        <p:spPr/>
        <p:txBody>
          <a:bodyPr/>
          <a:lstStyle/>
          <a:p/>
          <a:p>
            <a:pPr>
              <a:defRPr sz="2400">
                <a:solidFill>
                  <a:srgbClr val="FFFFFF"/>
                </a:solidFill>
                <a:latin typeface="Arial"/>
              </a:defRPr>
            </a:pPr>
            <a:r>
              <a:t>A tool is any action you allow the AI to take outside the conversation.</a:t>
            </a:r>
          </a:p>
          <a:p>
            <a:pPr>
              <a:defRPr sz="2400">
                <a:solidFill>
                  <a:srgbClr val="FFFFFF"/>
                </a:solidFill>
                <a:latin typeface="Arial"/>
              </a:defRPr>
            </a:pPr>
            <a:r>
              <a:t>Searching the web. Reading a document. Doing arithmetic. Sending an email. Querying a database.</a:t>
            </a:r>
          </a:p>
          <a:p>
            <a:pPr>
              <a:defRPr sz="2400">
                <a:solidFill>
                  <a:srgbClr val="FFFFFF"/>
                </a:solidFill>
                <a:latin typeface="Arial"/>
              </a:defRPr>
            </a:pPr>
            <a:r>
              <a:t>You describe the tool in plain language: what it does, when to use it, what it needs from the AI.</a:t>
            </a:r>
          </a:p>
          <a:p>
            <a:pPr>
              <a:defRPr sz="2400">
                <a:solidFill>
                  <a:srgbClr val="FFFFFF"/>
                </a:solidFill>
                <a:latin typeface="Arial"/>
              </a:defRPr>
            </a:pPr>
            <a:r>
              <a:t>The AI does not gain magic powers. It gains permission and a way to ask.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00E5FF"/>
                </a:solidFill>
                <a:latin typeface="Arial"/>
              </a:defRPr>
            </a:pPr>
            <a:r>
              <a:t>Search: The First Hand to Give It</a:t>
            </a:r>
          </a:p>
        </p:txBody>
      </p:sp>
      <p:sp>
        <p:nvSpPr>
          <p:cNvPr id="3" name="Content Placeholder 2"/>
          <p:cNvSpPr>
            <a:spLocks noGrp="1"/>
          </p:cNvSpPr>
          <p:nvPr>
            <p:ph idx="1"/>
          </p:nvPr>
        </p:nvSpPr>
        <p:spPr/>
        <p:txBody>
          <a:bodyPr/>
          <a:lstStyle/>
          <a:p/>
          <a:p>
            <a:pPr>
              <a:defRPr sz="2400">
                <a:solidFill>
                  <a:srgbClr val="FFFFFF"/>
                </a:solidFill>
                <a:latin typeface="Arial"/>
              </a:defRPr>
            </a:pPr>
            <a:r>
              <a:t>Search is the highest-value tool because it fixes the biggest weakness: stale or missing knowledge.</a:t>
            </a:r>
          </a:p>
          <a:p>
            <a:pPr>
              <a:defRPr sz="2400">
                <a:solidFill>
                  <a:srgbClr val="FFFFFF"/>
                </a:solidFill>
                <a:latin typeface="Arial"/>
              </a:defRPr>
            </a:pPr>
            <a:r>
              <a:t>The AI writes its own search queries, reads the results, and pulls out what matters.</a:t>
            </a:r>
          </a:p>
          <a:p>
            <a:pPr>
              <a:defRPr sz="2400">
                <a:solidFill>
                  <a:srgbClr val="FFFFFF"/>
                </a:solidFill>
                <a:latin typeface="Arial"/>
              </a:defRPr>
            </a:pPr>
            <a:r>
              <a:t>You get answers grounded in sources you can actually click and check.</a:t>
            </a:r>
          </a:p>
          <a:p>
            <a:pPr>
              <a:defRPr sz="2400">
                <a:solidFill>
                  <a:srgbClr val="FFFFFF"/>
                </a:solidFill>
                <a:latin typeface="Arial"/>
              </a:defRPr>
            </a:pPr>
            <a:r>
              <a:t>This alone turns hours of tab-hopping research into a two-minute request.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00E5FF"/>
                </a:solidFill>
                <a:latin typeface="Arial"/>
              </a:defRPr>
            </a:pPr>
            <a:r>
              <a:t>The Loop That Makes It Work: Think, Act, Observe, Repeat</a:t>
            </a:r>
          </a:p>
        </p:txBody>
      </p:sp>
      <p:sp>
        <p:nvSpPr>
          <p:cNvPr id="3" name="Content Placeholder 2"/>
          <p:cNvSpPr>
            <a:spLocks noGrp="1"/>
          </p:cNvSpPr>
          <p:nvPr>
            <p:ph idx="1"/>
          </p:nvPr>
        </p:nvSpPr>
        <p:spPr/>
        <p:txBody>
          <a:bodyPr/>
          <a:lstStyle/>
          <a:p/>
          <a:p>
            <a:pPr>
              <a:defRPr sz="2400">
                <a:solidFill>
                  <a:srgbClr val="FFFFFF"/>
                </a:solidFill>
                <a:latin typeface="Arial"/>
              </a:defRPr>
            </a:pPr>
            <a:r>
              <a:t>Think: the AI decides whether it needs help and which tool fits.</a:t>
            </a:r>
          </a:p>
          <a:p>
            <a:pPr>
              <a:defRPr sz="2400">
                <a:solidFill>
                  <a:srgbClr val="FFFFFF"/>
                </a:solidFill>
                <a:latin typeface="Arial"/>
              </a:defRPr>
            </a:pPr>
            <a:r>
              <a:t>Act: it calls the tool with specific inputs it wrote itself.</a:t>
            </a:r>
          </a:p>
          <a:p>
            <a:pPr>
              <a:defRPr sz="2400">
                <a:solidFill>
                  <a:srgbClr val="FFFFFF"/>
                </a:solidFill>
                <a:latin typeface="Arial"/>
              </a:defRPr>
            </a:pPr>
            <a:r>
              <a:t>Observe: the tool's result comes back and becomes new information.</a:t>
            </a:r>
          </a:p>
          <a:p>
            <a:pPr>
              <a:defRPr sz="2400">
                <a:solidFill>
                  <a:srgbClr val="FFFFFF"/>
                </a:solidFill>
                <a:latin typeface="Arial"/>
              </a:defRPr>
            </a:pPr>
            <a:r>
              <a:t>Repeat: it loops until it has enough, then answers you.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00E5FF"/>
                </a:solidFill>
                <a:latin typeface="Arial"/>
              </a:defRPr>
            </a:pPr>
            <a:r>
              <a:t>Building Your Toolbelt</a:t>
            </a:r>
          </a:p>
        </p:txBody>
      </p:sp>
      <p:sp>
        <p:nvSpPr>
          <p:cNvPr id="3" name="Content Placeholder 2"/>
          <p:cNvSpPr>
            <a:spLocks noGrp="1"/>
          </p:cNvSpPr>
          <p:nvPr>
            <p:ph idx="1"/>
          </p:nvPr>
        </p:nvSpPr>
        <p:spPr/>
        <p:txBody>
          <a:bodyPr/>
          <a:lstStyle/>
          <a:p/>
          <a:p>
            <a:pPr>
              <a:defRPr sz="2400">
                <a:solidFill>
                  <a:srgbClr val="FFFFFF"/>
                </a:solidFill>
                <a:latin typeface="Arial"/>
              </a:defRPr>
            </a:pPr>
            <a:r>
              <a:t>Search and web browsing for anything current or external.</a:t>
            </a:r>
          </a:p>
          <a:p>
            <a:pPr>
              <a:defRPr sz="2400">
                <a:solidFill>
                  <a:srgbClr val="FFFFFF"/>
                </a:solidFill>
                <a:latin typeface="Arial"/>
              </a:defRPr>
            </a:pPr>
            <a:r>
              <a:t>Documents and files so it can read your reports, contracts, and spreadsheets.</a:t>
            </a:r>
          </a:p>
          <a:p>
            <a:pPr>
              <a:defRPr sz="2400">
                <a:solidFill>
                  <a:srgbClr val="FFFFFF"/>
                </a:solidFill>
                <a:latin typeface="Arial"/>
              </a:defRPr>
            </a:pPr>
            <a:r>
              <a:t>A calculator or code runner, because language models are shaky at precise maths.</a:t>
            </a:r>
          </a:p>
          <a:p>
            <a:pPr>
              <a:defRPr sz="2400">
                <a:solidFill>
                  <a:srgbClr val="FFFFFF"/>
                </a:solidFill>
                <a:latin typeface="Arial"/>
              </a:defRPr>
            </a:pPr>
            <a:r>
              <a:t>Your work systems: calendar, email, CRM, internal databases.</a:t>
            </a:r>
          </a:p>
          <a:p>
            <a:pPr>
              <a:defRPr sz="2400">
                <a:solidFill>
                  <a:srgbClr val="FFFFFF"/>
                </a:solidFill>
                <a:latin typeface="Arial"/>
              </a:defRPr>
            </a:pPr>
            <a:r>
              <a:t>Start with two or three tools. A cluttered toolbelt confuses the AI.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00E5FF"/>
                </a:solidFill>
                <a:latin typeface="Arial"/>
              </a:defRPr>
            </a:pPr>
            <a:r>
              <a:t>Trust, But Verify</a:t>
            </a:r>
          </a:p>
        </p:txBody>
      </p:sp>
      <p:sp>
        <p:nvSpPr>
          <p:cNvPr id="3" name="Content Placeholder 2"/>
          <p:cNvSpPr>
            <a:spLocks noGrp="1"/>
          </p:cNvSpPr>
          <p:nvPr>
            <p:ph idx="1"/>
          </p:nvPr>
        </p:nvSpPr>
        <p:spPr/>
        <p:txBody>
          <a:bodyPr/>
          <a:lstStyle/>
          <a:p/>
          <a:p>
            <a:pPr>
              <a:defRPr sz="2400">
                <a:solidFill>
                  <a:srgbClr val="FFFFFF"/>
                </a:solidFill>
                <a:latin typeface="Arial"/>
              </a:defRPr>
            </a:pPr>
            <a:r>
              <a:t>Tools reduce hallucination, they do not eliminate it. The AI can still misread a source.</a:t>
            </a:r>
          </a:p>
          <a:p>
            <a:pPr>
              <a:defRPr sz="2400">
                <a:solidFill>
                  <a:srgbClr val="FFFFFF"/>
                </a:solidFill>
                <a:latin typeface="Arial"/>
              </a:defRPr>
            </a:pPr>
            <a:r>
              <a:t>Always demand citations, then spot-check the ones that matter.</a:t>
            </a:r>
          </a:p>
          <a:p>
            <a:pPr>
              <a:defRPr sz="2400">
                <a:solidFill>
                  <a:srgbClr val="FFFFFF"/>
                </a:solidFill>
                <a:latin typeface="Arial"/>
              </a:defRPr>
            </a:pPr>
            <a:r>
              <a:t>Be deliberate about permissions: reading is low risk, sending and deleting are not.</a:t>
            </a:r>
          </a:p>
          <a:p>
            <a:pPr>
              <a:defRPr sz="2400">
                <a:solidFill>
                  <a:srgbClr val="FFFFFF"/>
                </a:solidFill>
                <a:latin typeface="Arial"/>
              </a:defRPr>
            </a:pPr>
            <a:r>
              <a:t>Keep a human in the loop for anything that costs money, leaves your organisation, or cannot be undone.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00E5FF"/>
                </a:solidFill>
                <a:latin typeface="Arial"/>
              </a:defRPr>
            </a:pPr>
            <a:r>
              <a:t>Hands-On: Your Research Assistant</a:t>
            </a:r>
          </a:p>
        </p:txBody>
      </p:sp>
      <p:sp>
        <p:nvSpPr>
          <p:cNvPr id="3" name="Content Placeholder 2"/>
          <p:cNvSpPr>
            <a:spLocks noGrp="1"/>
          </p:cNvSpPr>
          <p:nvPr>
            <p:ph idx="1"/>
          </p:nvPr>
        </p:nvSpPr>
        <p:spPr/>
        <p:txBody>
          <a:bodyPr/>
          <a:lstStyle/>
          <a:p/>
          <a:p>
            <a:pPr>
              <a:defRPr sz="2400">
                <a:solidFill>
                  <a:srgbClr val="FFFFFF"/>
                </a:solidFill>
                <a:latin typeface="Arial"/>
              </a:defRPr>
            </a:pPr>
            <a:r>
              <a:t>Lab: build an assistant with two tools, search and a calculator.</a:t>
            </a:r>
          </a:p>
          <a:p>
            <a:pPr>
              <a:defRPr sz="2400">
                <a:solidFill>
                  <a:srgbClr val="FFFFFF"/>
                </a:solidFill>
                <a:latin typeface="Arial"/>
              </a:defRPr>
            </a:pPr>
            <a:r>
              <a:t>Test it on a question that needs today's information, not last year's.</a:t>
            </a:r>
          </a:p>
          <a:p>
            <a:pPr>
              <a:defRPr sz="2400">
                <a:solidFill>
                  <a:srgbClr val="FFFFFF"/>
                </a:solidFill>
                <a:latin typeface="Arial"/>
              </a:defRPr>
            </a:pPr>
            <a:r>
              <a:t>Watch the loop run and see which tool it reaches for, and when.</a:t>
            </a:r>
          </a:p>
          <a:p>
            <a:pPr>
              <a:defRPr sz="2400">
                <a:solidFill>
                  <a:srgbClr val="FFFFFF"/>
                </a:solidFill>
                <a:latin typeface="Arial"/>
              </a:defRPr>
            </a:pPr>
            <a:r>
              <a:t>Homework: pick one research task you do every week and write the tool description for it.</a:t>
            </a:r>
          </a:p>
          <a:p>
            <a:pPr>
              <a:defRPr sz="2400">
                <a:solidFill>
                  <a:srgbClr val="FFFFFF"/>
                </a:solidFill>
                <a:latin typeface="Arial"/>
              </a:defRPr>
            </a:pPr>
            <a:r>
              <a:t>Tomorrow, Day 3: giving your assistant memory.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