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Say: 'Welcome — you're in the right room.' Set expectations fast: this is a build-along bootcamp, not a lecture series. Ask the room a quick question: 'How many tabs do you have open right now?' Let people laugh. Then land the promise: by Day 5, everyone leaves with a working system, not just notes about one. Emphasise that Day 1 is deliberately gentle — today is about understanding and setup, not heavy lifting. Reassure the non-technical folks explicitly: 'If you have ever sent a WhatsApp message, you have the skills we need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personal and relatable. Ask: 'Who here has saved an article, a voice note, or a PDF you swore you'd come back to?' Almost every hand goes up. Explain the digital graveyard — Google Drive folders, WhatsApp 'saved messages', screenshots nobody opens again. Key reframe to deliver slowly: 'The issue isn't that you forget. It's that you have no system for remembering on demand.' Human memory is for having ideas, not storing them. That's the gap a Second Brain fills.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term plainly before adding AI. A Second Brain is simply an outside-your-head memory you actually trust. Note the evolution: people have done this for centuries with journals and commonplace books. What changed in the last two years is that the notebook can now talk back. Use the analogy that anchors the whole day: 'Old Second Brain = a filing cabinet. New Second Brain = a colleague who has read every file in that cabinet.' Stress that we're not replacing thinking — we're removing the friction before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entire bootcamp — spend real time here. Most people treat AI like a search engine and get generic answers. Instead, treat it like a sharp intern who started this morning: capable, eager, and completely clueless about your context. Walk through the three things: the job description (we'll call this a system prompt), the training materials (your documents and notes), and feedback (iterating on the output). Say clearly: 'If your assistant gives you rubbish, ask yourself what a new hire would have needed to know that you didn't tell them.' This one shift separates people who love AI from people who gave up on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as the workflow that structures the rest of the week. Use one running example the class can follow — say, a 40-page industry report. Capture: drop it in. Organise: tag it by project. Distil: 'give me the five decisions this report should influence.' Create: 'draft a one-page brief for my team based on it.' Point out that most people only ever do step one — they capture and stop, which is why they end up with a graveyard. Preview the week lightly: Day 2 focuses on capture and organisation, Day 3 on giving the brain your knowledge, Day 4 on automation, Day 5 on shipping your own build.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off tool anxiety immediately. Say: 'You do not need every subscription on the internet.' Recommend one AI assistant, one notes app, and later one automation layer. If people already use Notion or Obsidian, they keep it — we're building on top of what exists. Mention that free tiers are enough to finish the bootcamp, and note where paid tiers help (longer documents, file uploads) without pressuring anyone. Warn about the most common trap: tool-hopping. Someone will want to redesign their whole system today — tell them to resist it. We are building one small working brain, then growing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into hands-on mode — this is the doing part of Day 1. Walk them through live. For the job description, give a template on screen: 'You are my research assistant. I work in [field]. When I share material, summarise in plain English, use short paragraphs, and always end with three questions I should be asking. Never invent facts — if you don't know, say so.' Give people 10 minutes to write their own. Then have them upload or paste one real document — a report, lecture note, contract, or meeting transcript. The three-question test is the magic moment: when the AI answers using THEIR material, the concept lands emotionally. Circulate and help anyone stuck. Ask two or three volunteers to read out what their assistant said.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energy and a clear next action. Keep the homework light but non-negotiable — 10 items only, and they can be messy. The point is to build the capture reflex, not a perfect archive. Remind them to iterate on the job description; the second version is always better than the first. Tease Day 2: tomorrow we stop copying and pasting and start building a proper inbox for our brain. Final line to leave them with: 'You didn't just open a chatbot today — you hired someone. Tomorrow, we train them.' Share the community or WhatsApp group link and invite people to post their first assistant output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ctrTitle"/>
          </p:nvPr>
        </p:nvSpPr>
        <p:spPr/>
        <p:txBody>
          <a:bodyPr/>
          <a:lstStyle/>
          <a:p>
            <a:pPr>
              <a:defRPr sz="4000" b="1">
                <a:solidFill>
                  <a:srgbClr val="00E5FF"/>
                </a:solidFill>
                <a:latin typeface="Arial"/>
              </a:defRPr>
            </a:pPr>
            <a:r>
              <a:t>Day 1: Hire the Brain (Intro &amp; Setup)</a:t>
            </a:r>
          </a:p>
        </p:txBody>
      </p:sp>
      <p:sp>
        <p:nvSpPr>
          <p:cNvPr id="3" name="Subtitle 2"/>
          <p:cNvSpPr>
            <a:spLocks noGrp="1"/>
          </p:cNvSpPr>
          <p:nvPr>
            <p:ph type="subTitle" idx="1"/>
          </p:nvPr>
        </p:nvSpPr>
        <p:spPr/>
        <p:txBody>
          <a:bodyPr/>
          <a:lstStyle/>
          <a:p>
            <a:pPr>
              <a:defRPr sz="2400">
                <a:solidFill>
                  <a:srgbClr val="FFFFFF"/>
                </a:solidFill>
              </a:defRPr>
            </a:pPr>
            <a:r>
              <a:t>AgenticLabs.ng AI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Welcome to the Second Brain Bootcamp</a:t>
            </a:r>
          </a:p>
        </p:txBody>
      </p:sp>
      <p:sp>
        <p:nvSpPr>
          <p:cNvPr id="3" name="Content Placeholder 2"/>
          <p:cNvSpPr>
            <a:spLocks noGrp="1"/>
          </p:cNvSpPr>
          <p:nvPr>
            <p:ph idx="1"/>
          </p:nvPr>
        </p:nvSpPr>
        <p:spPr/>
        <p:txBody>
          <a:bodyPr/>
          <a:lstStyle/>
          <a:p/>
          <a:p>
            <a:pPr>
              <a:defRPr sz="2400">
                <a:solidFill>
                  <a:srgbClr val="FFFFFF"/>
                </a:solidFill>
                <a:latin typeface="Arial"/>
              </a:defRPr>
            </a:pPr>
            <a:r>
              <a:t>5 days to build an AI-powered thinking partner that never forgets</a:t>
            </a:r>
          </a:p>
          <a:p>
            <a:pPr>
              <a:defRPr sz="2400">
                <a:solidFill>
                  <a:srgbClr val="FFFFFF"/>
                </a:solidFill>
                <a:latin typeface="Arial"/>
              </a:defRPr>
            </a:pPr>
            <a:r>
              <a:t>Day 1: Hire the Brain — meet your new assistant and set it up</a:t>
            </a:r>
          </a:p>
          <a:p>
            <a:pPr>
              <a:defRPr sz="2400">
                <a:solidFill>
                  <a:srgbClr val="FFFFFF"/>
                </a:solidFill>
                <a:latin typeface="Arial"/>
              </a:defRPr>
            </a:pPr>
            <a:r>
              <a:t>No coding experience required — if you can chat, you can build</a:t>
            </a:r>
          </a:p>
          <a:p>
            <a:pPr>
              <a:defRPr sz="2400">
                <a:solidFill>
                  <a:srgbClr val="FFFFFF"/>
                </a:solidFill>
                <a:latin typeface="Arial"/>
              </a:defRPr>
            </a:pPr>
            <a:r>
              <a:t>By Friday: a working Second Brain that reads, remembers, and reasons with you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The Problem: Your Brain Was Never Built for This</a:t>
            </a:r>
          </a:p>
        </p:txBody>
      </p:sp>
      <p:sp>
        <p:nvSpPr>
          <p:cNvPr id="3" name="Content Placeholder 2"/>
          <p:cNvSpPr>
            <a:spLocks noGrp="1"/>
          </p:cNvSpPr>
          <p:nvPr>
            <p:ph idx="1"/>
          </p:nvPr>
        </p:nvSpPr>
        <p:spPr/>
        <p:txBody>
          <a:bodyPr/>
          <a:lstStyle/>
          <a:p/>
          <a:p>
            <a:pPr>
              <a:defRPr sz="2400">
                <a:solidFill>
                  <a:srgbClr val="FFFFFF"/>
                </a:solidFill>
                <a:latin typeface="Arial"/>
              </a:defRPr>
            </a:pPr>
            <a:r>
              <a:t>We consume more information in a day than our grandparents did in a month</a:t>
            </a:r>
          </a:p>
          <a:p>
            <a:pPr>
              <a:defRPr sz="2400">
                <a:solidFill>
                  <a:srgbClr val="FFFFFF"/>
                </a:solidFill>
                <a:latin typeface="Arial"/>
              </a:defRPr>
            </a:pPr>
            <a:r>
              <a:t>Notes get written once and never read again — the 'digital graveyard'</a:t>
            </a:r>
          </a:p>
          <a:p>
            <a:pPr>
              <a:defRPr sz="2400">
                <a:solidFill>
                  <a:srgbClr val="FFFFFF"/>
                </a:solidFill>
                <a:latin typeface="Arial"/>
              </a:defRPr>
            </a:pPr>
            <a:r>
              <a:t>You don't have a knowledge problem, you have a retrieval problem</a:t>
            </a:r>
          </a:p>
          <a:p>
            <a:pPr>
              <a:defRPr sz="2400">
                <a:solidFill>
                  <a:srgbClr val="FFFFFF"/>
                </a:solidFill>
                <a:latin typeface="Arial"/>
              </a:defRPr>
            </a:pPr>
            <a:r>
              <a:t>Great ideas die not from lack of thinking, but from lack of remembering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What Is a 'Second Brain'?</a:t>
            </a:r>
          </a:p>
        </p:txBody>
      </p:sp>
      <p:sp>
        <p:nvSpPr>
          <p:cNvPr id="3" name="Content Placeholder 2"/>
          <p:cNvSpPr>
            <a:spLocks noGrp="1"/>
          </p:cNvSpPr>
          <p:nvPr>
            <p:ph idx="1"/>
          </p:nvPr>
        </p:nvSpPr>
        <p:spPr/>
        <p:txBody>
          <a:bodyPr/>
          <a:lstStyle/>
          <a:p/>
          <a:p>
            <a:pPr>
              <a:defRPr sz="2400">
                <a:solidFill>
                  <a:srgbClr val="FFFFFF"/>
                </a:solidFill>
                <a:latin typeface="Arial"/>
              </a:defRPr>
            </a:pPr>
            <a:r>
              <a:t>A trusted external system that stores what you learn — so you can think, not memorise</a:t>
            </a:r>
          </a:p>
          <a:p>
            <a:pPr>
              <a:defRPr sz="2400">
                <a:solidFill>
                  <a:srgbClr val="FFFFFF"/>
                </a:solidFill>
                <a:latin typeface="Arial"/>
              </a:defRPr>
            </a:pPr>
            <a:r>
              <a:t>Traditional version: notebooks, Notion, Evernote (you still do the searching)</a:t>
            </a:r>
          </a:p>
          <a:p>
            <a:pPr>
              <a:defRPr sz="2400">
                <a:solidFill>
                  <a:srgbClr val="FFFFFF"/>
                </a:solidFill>
                <a:latin typeface="Arial"/>
              </a:defRPr>
            </a:pPr>
            <a:r>
              <a:t>AI version: a brain you can TALK to — it finds, summarises, and connects for you</a:t>
            </a:r>
          </a:p>
          <a:p>
            <a:pPr>
              <a:defRPr sz="2400">
                <a:solidFill>
                  <a:srgbClr val="FFFFFF"/>
                </a:solidFill>
                <a:latin typeface="Arial"/>
              </a:defRPr>
            </a:pPr>
            <a:r>
              <a:t>Think of it as hiring the world's most patient research assistant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Why 'Hire' the Brain? The Employee Mindset</a:t>
            </a:r>
          </a:p>
        </p:txBody>
      </p:sp>
      <p:sp>
        <p:nvSpPr>
          <p:cNvPr id="3" name="Content Placeholder 2"/>
          <p:cNvSpPr>
            <a:spLocks noGrp="1"/>
          </p:cNvSpPr>
          <p:nvPr>
            <p:ph idx="1"/>
          </p:nvPr>
        </p:nvSpPr>
        <p:spPr/>
        <p:txBody>
          <a:bodyPr/>
          <a:lstStyle/>
          <a:p/>
          <a:p>
            <a:pPr>
              <a:defRPr sz="2400">
                <a:solidFill>
                  <a:srgbClr val="FFFFFF"/>
                </a:solidFill>
                <a:latin typeface="Arial"/>
              </a:defRPr>
            </a:pPr>
            <a:r>
              <a:t>Treat your AI like a new hire — brilliant, fast, but knows nothing about YOU on Day 1</a:t>
            </a:r>
          </a:p>
          <a:p>
            <a:pPr>
              <a:defRPr sz="2400">
                <a:solidFill>
                  <a:srgbClr val="FFFFFF"/>
                </a:solidFill>
                <a:latin typeface="Arial"/>
              </a:defRPr>
            </a:pPr>
            <a:r>
              <a:t>Every employee needs three things: a job description, training materials, and feedback</a:t>
            </a:r>
          </a:p>
          <a:p>
            <a:pPr>
              <a:defRPr sz="2400">
                <a:solidFill>
                  <a:srgbClr val="FFFFFF"/>
                </a:solidFill>
                <a:latin typeface="Arial"/>
              </a:defRPr>
            </a:pPr>
            <a:r>
              <a:t>Bad results are usually a briefing problem, not an intelligence problem</a:t>
            </a:r>
          </a:p>
          <a:p>
            <a:pPr>
              <a:defRPr sz="2400">
                <a:solidFill>
                  <a:srgbClr val="FFFFFF"/>
                </a:solidFill>
                <a:latin typeface="Arial"/>
              </a:defRPr>
            </a:pPr>
            <a:r>
              <a:t>This week you become the manager, not the machine operator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The 4 Jobs Your Second Brain Will Do</a:t>
            </a:r>
          </a:p>
        </p:txBody>
      </p:sp>
      <p:sp>
        <p:nvSpPr>
          <p:cNvPr id="3" name="Content Placeholder 2"/>
          <p:cNvSpPr>
            <a:spLocks noGrp="1"/>
          </p:cNvSpPr>
          <p:nvPr>
            <p:ph idx="1"/>
          </p:nvPr>
        </p:nvSpPr>
        <p:spPr/>
        <p:txBody>
          <a:bodyPr/>
          <a:lstStyle/>
          <a:p/>
          <a:p>
            <a:pPr>
              <a:defRPr sz="2400">
                <a:solidFill>
                  <a:srgbClr val="FFFFFF"/>
                </a:solidFill>
                <a:latin typeface="Arial"/>
              </a:defRPr>
            </a:pPr>
            <a:r>
              <a:t>CAPTURE — pull in notes, articles, PDFs, voice notes and meeting transcripts</a:t>
            </a:r>
          </a:p>
          <a:p>
            <a:pPr>
              <a:defRPr sz="2400">
                <a:solidFill>
                  <a:srgbClr val="FFFFFF"/>
                </a:solidFill>
                <a:latin typeface="Arial"/>
              </a:defRPr>
            </a:pPr>
            <a:r>
              <a:t>ORGANISE — structure information so it can be found again in seconds</a:t>
            </a:r>
          </a:p>
          <a:p>
            <a:pPr>
              <a:defRPr sz="2400">
                <a:solidFill>
                  <a:srgbClr val="FFFFFF"/>
                </a:solidFill>
                <a:latin typeface="Arial"/>
              </a:defRPr>
            </a:pPr>
            <a:r>
              <a:t>DISTIL — summarise long material down to what actually matters</a:t>
            </a:r>
          </a:p>
          <a:p>
            <a:pPr>
              <a:defRPr sz="2400">
                <a:solidFill>
                  <a:srgbClr val="FFFFFF"/>
                </a:solidFill>
                <a:latin typeface="Arial"/>
              </a:defRPr>
            </a:pPr>
            <a:r>
              <a:t>CREATE — turn what you know into drafts, plans, posts and decisions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Meet Your Toolkit (Keep It Boring, Keep It Working)</a:t>
            </a:r>
          </a:p>
        </p:txBody>
      </p:sp>
      <p:sp>
        <p:nvSpPr>
          <p:cNvPr id="3" name="Content Placeholder 2"/>
          <p:cNvSpPr>
            <a:spLocks noGrp="1"/>
          </p:cNvSpPr>
          <p:nvPr>
            <p:ph idx="1"/>
          </p:nvPr>
        </p:nvSpPr>
        <p:spPr/>
        <p:txBody>
          <a:bodyPr/>
          <a:lstStyle/>
          <a:p/>
          <a:p>
            <a:pPr>
              <a:defRPr sz="2400">
                <a:solidFill>
                  <a:srgbClr val="FFFFFF"/>
                </a:solidFill>
                <a:latin typeface="Arial"/>
              </a:defRPr>
            </a:pPr>
            <a:r>
              <a:t>The Brain: ChatGPT, Claude or Gemini — pick one, stick with it this week</a:t>
            </a:r>
          </a:p>
          <a:p>
            <a:pPr>
              <a:defRPr sz="2400">
                <a:solidFill>
                  <a:srgbClr val="FFFFFF"/>
                </a:solidFill>
                <a:latin typeface="Arial"/>
              </a:defRPr>
            </a:pPr>
            <a:r>
              <a:t>The Memory: a notes home (Notion, Obsidian or Google Docs — your choice)</a:t>
            </a:r>
          </a:p>
          <a:p>
            <a:pPr>
              <a:defRPr sz="2400">
                <a:solidFill>
                  <a:srgbClr val="FFFFFF"/>
                </a:solidFill>
                <a:latin typeface="Arial"/>
              </a:defRPr>
            </a:pPr>
            <a:r>
              <a:t>The Connector: an automation tool to move things between them (we'll meet this on Day 4)</a:t>
            </a:r>
          </a:p>
          <a:p>
            <a:pPr>
              <a:defRPr sz="2400">
                <a:solidFill>
                  <a:srgbClr val="FFFFFF"/>
                </a:solidFill>
                <a:latin typeface="Arial"/>
              </a:defRPr>
            </a:pPr>
            <a:r>
              <a:t>Rule of the week: simple tools you use beat perfect tools you don't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Today's Build: Your First Hire</a:t>
            </a:r>
          </a:p>
        </p:txBody>
      </p:sp>
      <p:sp>
        <p:nvSpPr>
          <p:cNvPr id="3" name="Content Placeholder 2"/>
          <p:cNvSpPr>
            <a:spLocks noGrp="1"/>
          </p:cNvSpPr>
          <p:nvPr>
            <p:ph idx="1"/>
          </p:nvPr>
        </p:nvSpPr>
        <p:spPr/>
        <p:txBody>
          <a:bodyPr/>
          <a:lstStyle/>
          <a:p/>
          <a:p>
            <a:pPr>
              <a:defRPr sz="2400">
                <a:solidFill>
                  <a:srgbClr val="FFFFFF"/>
                </a:solidFill>
                <a:latin typeface="Arial"/>
              </a:defRPr>
            </a:pPr>
            <a:r>
              <a:t>Step 1: Create your account and open a fresh, dedicated chat workspace</a:t>
            </a:r>
          </a:p>
          <a:p>
            <a:pPr>
              <a:defRPr sz="2400">
                <a:solidFill>
                  <a:srgbClr val="FFFFFF"/>
                </a:solidFill>
                <a:latin typeface="Arial"/>
              </a:defRPr>
            </a:pPr>
            <a:r>
              <a:t>Step 2: Write your assistant's job description — role, tone, and what it should never do</a:t>
            </a:r>
          </a:p>
          <a:p>
            <a:pPr>
              <a:defRPr sz="2400">
                <a:solidFill>
                  <a:srgbClr val="FFFFFF"/>
                </a:solidFill>
                <a:latin typeface="Arial"/>
              </a:defRPr>
            </a:pPr>
            <a:r>
              <a:t>Step 3: Feed it one real document from your work or studies</a:t>
            </a:r>
          </a:p>
          <a:p>
            <a:pPr>
              <a:defRPr sz="2400">
                <a:solidFill>
                  <a:srgbClr val="FFFFFF"/>
                </a:solidFill>
                <a:latin typeface="Arial"/>
              </a:defRPr>
            </a:pPr>
            <a:r>
              <a:t>Step 4: Ask three questions only someone who read that document could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Homework &amp; What's Coming Tomorrow</a:t>
            </a:r>
          </a:p>
        </p:txBody>
      </p:sp>
      <p:sp>
        <p:nvSpPr>
          <p:cNvPr id="3" name="Content Placeholder 2"/>
          <p:cNvSpPr>
            <a:spLocks noGrp="1"/>
          </p:cNvSpPr>
          <p:nvPr>
            <p:ph idx="1"/>
          </p:nvPr>
        </p:nvSpPr>
        <p:spPr/>
        <p:txBody>
          <a:bodyPr/>
          <a:lstStyle/>
          <a:p/>
          <a:p>
            <a:pPr>
              <a:defRPr sz="2400">
                <a:solidFill>
                  <a:srgbClr val="FFFFFF"/>
                </a:solidFill>
                <a:latin typeface="Arial"/>
              </a:defRPr>
            </a:pPr>
            <a:r>
              <a:t>Homework: capture 10 pieces of information you'd normally lose (links, notes, voice memos)</a:t>
            </a:r>
          </a:p>
          <a:p>
            <a:pPr>
              <a:defRPr sz="2400">
                <a:solidFill>
                  <a:srgbClr val="FFFFFF"/>
                </a:solidFill>
                <a:latin typeface="Arial"/>
              </a:defRPr>
            </a:pPr>
            <a:r>
              <a:t>Refine your assistant's job description at least once based on today's answers</a:t>
            </a:r>
          </a:p>
          <a:p>
            <a:pPr>
              <a:defRPr sz="2400">
                <a:solidFill>
                  <a:srgbClr val="FFFFFF"/>
                </a:solidFill>
                <a:latin typeface="Arial"/>
              </a:defRPr>
            </a:pPr>
            <a:r>
              <a:t>Tomorrow — Day 2: 'Feed the Brain' — building a capture system that runs on autopilot</a:t>
            </a:r>
          </a:p>
          <a:p>
            <a:pPr>
              <a:defRPr sz="2400">
                <a:solidFill>
                  <a:srgbClr val="FFFFFF"/>
                </a:solidFill>
                <a:latin typeface="Arial"/>
              </a:defRPr>
            </a:pPr>
            <a:r>
              <a:t>Come with one real problem you want your Second Brain to solve this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