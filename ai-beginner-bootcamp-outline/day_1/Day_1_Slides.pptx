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warmly. Say: 'Take a breath — you are in the right room, and you do not need a technical background to be here.' Introduce yourself in 60 seconds, then ask 3-4 participants to shout out their job title (accountant, teacher, HR officer, trader). Point out the variety and say: 'Every single one of those roles is about to get faster this week.' Set expectations: Day 1 is about mindset and setup — we get our hands dirty by the end of today. Emphasise that the bootcamp is universal — this is not a developer course, it is a knowledge worker course.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mindset slide — spend time here. Use a relatable story: 'Imagine you get a brilliant intern on Monday. Fast, tireless, has read the entire internet — but has never met your company, your clients, or your boss. Would you fire the intern because their first draft was wrong? No. You would coach them.' That is exactly the relationship you are building this week. Warn them about the two failure modes: people who refuse to use it, and people who blindly trust it. We are aiming for the middle — the skilled director. Ask the room: 'What is one task you do every week that you secretly hate?' Collect 3 answers on a flipchart — you will reference these all week.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simple and non-technical. Use the phone keyboard analogy: 'When you type Good morning and your phone suggests sir — that is baby prediction. ChatGPT is that same idea, scaled up a billion times, with reasoning that emerges from the scale.' Stress the key insight: because it predicts rather than retrieves, it can confidently produce something that sounds perfect but is wrong. That is called a hallucination — we will cover it properly on the next slide. Do NOT go into transformers, tokens, or neural networks. If someone asks a deep technical question, park it: 'Great question — write it on the parking board, we will handle it in the Day 4 deep dive.'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 hiring decision, not a religious war. Tell them: 'You are not marrying one — most professionals keep two open.' Give practical Nigerian context: mention that payment for subscriptions can be done with a virtual dollar card, and that free tiers are genuinely enough to complete this bootcamp. Recommend everyone create accounts on at least two so they can compare outputs. Mention mobile apps and voice mode — many participants will get their biggest wins on their phone during traffic or between meetings. Reassure: 'We will use ChatGPT as our common classroom tool so nobody gets lost, but everything you learn transfers.'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live, do-it-with-me segment — slow down and walk the room. Do not advance until at least 80% of hands are up. Custom Instructions is the highest-leverage 5 minutes of the whole day: have them write two things — (1) 'Who are you?' e.g. 'I am an HR manager at a 40-person logistics firm in Lagos', and (2) 'How should the AI respond?' e.g. 'Be concise, use British English, avoid corporate jargon, always ask me a clarifying question before writing long documents.' Explain that this instruction now applies to EVERY future chat — they just trained their intern once instead of every morning. Have volunteers read their custom instructions aloud.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two prompts on screen. Bad: 'Write an email about the delay.' Good: 'You are a client relations manager at a Lagos-based logistics company. Our client's shipment is 3 days late due to port congestion. Write a 150-word email to the client that apologises, explains without making excuses, gives a new delivery date of Friday, and offers a 5% discount. Professional but warm tone.' Run both live so the room SEES the difference — this moment usually gets an audible reaction. Then hammer the T: 'The first output is never the final output. Reply with make it shorter and less apologetic.' That back-and-forth is the actual skill. Give them 10 minutes to write a CRAFT prompt for the task they said they hate, from Slide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serious but not scary here. Share a real cautionary example (the lawyers who submitted AI-invented case citations to court). Explain that hallucination is not a bug they can turn off — it is a side effect of how prediction works, so verification is a permanent part of the workflow, not a beginner phase. On data safety: give them a simple test — 'If you would not post it in a public WhatsApp group, do not paste it in a free AI chat.' Teach the anonymisation habit: replace real names with Client A, real figures with rounded placeholders. Mention that enterprise/team plans have stronger data protections if their company is ready for that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energy. Do a quick round-the-room: each person says in one sentence the task they will delegate tonight — public commitment drives completion. Emphasise the 'bring your failure' instruction: say 'The failures are more valuable than the wins, because that is where the real learning lives — I want to see broken outputs tomorrow morning.' Share the WhatsApp/community group link for overnight questions and remind them the slides and prompt templates will be sent out this evening. Finish with the line: 'You did not learn about AI today. You hired it. Tomorrow we train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ctrTitle"/>
          </p:nvPr>
        </p:nvSpPr>
        <p:spPr/>
        <p:txBody>
          <a:bodyPr/>
          <a:lstStyle/>
          <a:p>
            <a:pPr>
              <a:defRPr sz="4000" b="1">
                <a:solidFill>
                  <a:srgbClr val="00E5FF"/>
                </a:solidFill>
                <a:latin typeface="Arial"/>
              </a:defRPr>
            </a:pPr>
            <a:r>
              <a:t>Day 1: Hire the Brain (Intro &amp; Setup)</a:t>
            </a:r>
          </a:p>
        </p:txBody>
      </p:sp>
      <p:sp>
        <p:nvSpPr>
          <p:cNvPr id="3" name="Subtitle 2"/>
          <p:cNvSpPr>
            <a:spLocks noGrp="1"/>
          </p:cNvSpPr>
          <p:nvPr>
            <p:ph type="subTitle" idx="1"/>
          </p:nvPr>
        </p:nvSpPr>
        <p:spPr/>
        <p:txBody>
          <a:bodyPr/>
          <a:lstStyle/>
          <a:p>
            <a:pPr>
              <a:defRPr sz="2400">
                <a:solidFill>
                  <a:srgbClr val="FFFFFF"/>
                </a:solidFill>
              </a:defRPr>
            </a:pPr>
            <a:r>
              <a:t>AgenticLabs.ng AI Bootcamp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Welcome to Day 1: Hire the Brain</a:t>
            </a:r>
          </a:p>
        </p:txBody>
      </p:sp>
      <p:sp>
        <p:nvSpPr>
          <p:cNvPr id="3" name="Content Placeholder 2"/>
          <p:cNvSpPr>
            <a:spLocks noGrp="1"/>
          </p:cNvSpPr>
          <p:nvPr>
            <p:ph idx="1"/>
          </p:nvPr>
        </p:nvSpPr>
        <p:spPr/>
        <p:txBody>
          <a:bodyPr/>
          <a:lstStyle/>
          <a:p/>
          <a:p>
            <a:pPr>
              <a:defRPr sz="2400">
                <a:solidFill>
                  <a:srgbClr val="FFFFFF"/>
                </a:solidFill>
                <a:latin typeface="Arial"/>
              </a:defRPr>
            </a:pPr>
            <a:r>
              <a:t>5 days, one goal: you leave with an AI teammate that actually works for you</a:t>
            </a:r>
          </a:p>
          <a:p>
            <a:pPr>
              <a:defRPr sz="2400">
                <a:solidFill>
                  <a:srgbClr val="FFFFFF"/>
                </a:solidFill>
                <a:latin typeface="Arial"/>
              </a:defRPr>
            </a:pPr>
            <a:r>
              <a:t>No coding required — if you can send a WhatsApp message, you can do this</a:t>
            </a:r>
          </a:p>
          <a:p>
            <a:pPr>
              <a:defRPr sz="2400">
                <a:solidFill>
                  <a:srgbClr val="FFFFFF"/>
                </a:solidFill>
                <a:latin typeface="Arial"/>
              </a:defRPr>
            </a:pPr>
            <a:r>
              <a:t>Today: what AI really is, why it matters for YOUR job, and getting your tools set up</a:t>
            </a:r>
          </a:p>
          <a:p>
            <a:pPr>
              <a:defRPr sz="2400">
                <a:solidFill>
                  <a:srgbClr val="FFFFFF"/>
                </a:solidFill>
                <a:latin typeface="Arial"/>
              </a:defRPr>
            </a:pPr>
            <a:r>
              <a:t>By 5pm today you will have your first working AI assistant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The Big Shift: From Doing to Directing</a:t>
            </a:r>
          </a:p>
        </p:txBody>
      </p:sp>
      <p:sp>
        <p:nvSpPr>
          <p:cNvPr id="3" name="Content Placeholder 2"/>
          <p:cNvSpPr>
            <a:spLocks noGrp="1"/>
          </p:cNvSpPr>
          <p:nvPr>
            <p:ph idx="1"/>
          </p:nvPr>
        </p:nvSpPr>
        <p:spPr/>
        <p:txBody>
          <a:bodyPr/>
          <a:lstStyle/>
          <a:p/>
          <a:p>
            <a:pPr>
              <a:defRPr sz="2400">
                <a:solidFill>
                  <a:srgbClr val="FFFFFF"/>
                </a:solidFill>
                <a:latin typeface="Arial"/>
              </a:defRPr>
            </a:pPr>
            <a:r>
              <a:t>Knowledge work = reading, writing, summarising, analysing, deciding</a:t>
            </a:r>
          </a:p>
          <a:p>
            <a:pPr>
              <a:defRPr sz="2400">
                <a:solidFill>
                  <a:srgbClr val="FFFFFF"/>
                </a:solidFill>
                <a:latin typeface="Arial"/>
              </a:defRPr>
            </a:pPr>
            <a:r>
              <a:t>AI can now do the first 80% of most of those tasks in seconds</a:t>
            </a:r>
          </a:p>
          <a:p>
            <a:pPr>
              <a:defRPr sz="2400">
                <a:solidFill>
                  <a:srgbClr val="FFFFFF"/>
                </a:solidFill>
                <a:latin typeface="Arial"/>
              </a:defRPr>
            </a:pPr>
            <a:r>
              <a:t>Your new job is not typing — it is instructing, reviewing and approving</a:t>
            </a:r>
          </a:p>
          <a:p>
            <a:pPr>
              <a:defRPr sz="2400">
                <a:solidFill>
                  <a:srgbClr val="FFFFFF"/>
                </a:solidFill>
                <a:latin typeface="Arial"/>
              </a:defRPr>
            </a:pPr>
            <a:r>
              <a:t>The people who win are not the smartest — they are the best delegators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So What Actually Is This Thing?</a:t>
            </a:r>
          </a:p>
        </p:txBody>
      </p:sp>
      <p:sp>
        <p:nvSpPr>
          <p:cNvPr id="3" name="Content Placeholder 2"/>
          <p:cNvSpPr>
            <a:spLocks noGrp="1"/>
          </p:cNvSpPr>
          <p:nvPr>
            <p:ph idx="1"/>
          </p:nvPr>
        </p:nvSpPr>
        <p:spPr/>
        <p:txBody>
          <a:bodyPr/>
          <a:lstStyle/>
          <a:p/>
          <a:p>
            <a:pPr>
              <a:defRPr sz="2400">
                <a:solidFill>
                  <a:srgbClr val="FFFFFF"/>
                </a:solidFill>
                <a:latin typeface="Arial"/>
              </a:defRPr>
            </a:pPr>
            <a:r>
              <a:t>An LLM (Large Language Model) is a very advanced prediction engine for words</a:t>
            </a:r>
          </a:p>
          <a:p>
            <a:pPr>
              <a:defRPr sz="2400">
                <a:solidFill>
                  <a:srgbClr val="FFFFFF"/>
                </a:solidFill>
                <a:latin typeface="Arial"/>
              </a:defRPr>
            </a:pPr>
            <a:r>
              <a:t>It read a huge portion of the internet and learned patterns in language</a:t>
            </a:r>
          </a:p>
          <a:p>
            <a:pPr>
              <a:defRPr sz="2400">
                <a:solidFill>
                  <a:srgbClr val="FFFFFF"/>
                </a:solidFill>
                <a:latin typeface="Arial"/>
              </a:defRPr>
            </a:pPr>
            <a:r>
              <a:t>It does not 'look up' answers — it generates the most likely next words</a:t>
            </a:r>
          </a:p>
          <a:p>
            <a:pPr>
              <a:defRPr sz="2400">
                <a:solidFill>
                  <a:srgbClr val="FFFFFF"/>
                </a:solidFill>
                <a:latin typeface="Arial"/>
              </a:defRPr>
            </a:pPr>
            <a:r>
              <a:t>That is why it is amazing at drafting, and unreliable at exact facts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Meet Your Candidates: Choosing Your Brain</a:t>
            </a:r>
          </a:p>
        </p:txBody>
      </p:sp>
      <p:sp>
        <p:nvSpPr>
          <p:cNvPr id="3" name="Content Placeholder 2"/>
          <p:cNvSpPr>
            <a:spLocks noGrp="1"/>
          </p:cNvSpPr>
          <p:nvPr>
            <p:ph idx="1"/>
          </p:nvPr>
        </p:nvSpPr>
        <p:spPr/>
        <p:txBody>
          <a:bodyPr/>
          <a:lstStyle/>
          <a:p/>
          <a:p>
            <a:pPr>
              <a:defRPr sz="2400">
                <a:solidFill>
                  <a:srgbClr val="FFFFFF"/>
                </a:solidFill>
                <a:latin typeface="Arial"/>
              </a:defRPr>
            </a:pPr>
            <a:r>
              <a:t>ChatGPT (OpenAI) — the all-rounder, best ecosystem and custom GPTs</a:t>
            </a:r>
          </a:p>
          <a:p>
            <a:pPr>
              <a:defRPr sz="2400">
                <a:solidFill>
                  <a:srgbClr val="FFFFFF"/>
                </a:solidFill>
                <a:latin typeface="Arial"/>
              </a:defRPr>
            </a:pPr>
            <a:r>
              <a:t>Claude (Anthropic) — best for long documents, careful writing and analysis</a:t>
            </a:r>
          </a:p>
          <a:p>
            <a:pPr>
              <a:defRPr sz="2400">
                <a:solidFill>
                  <a:srgbClr val="FFFFFF"/>
                </a:solidFill>
                <a:latin typeface="Arial"/>
              </a:defRPr>
            </a:pPr>
            <a:r>
              <a:t>Gemini (Google) — strongest if you live inside Gmail, Docs and Sheets</a:t>
            </a:r>
          </a:p>
          <a:p>
            <a:pPr>
              <a:defRPr sz="2400">
                <a:solidFill>
                  <a:srgbClr val="FFFFFF"/>
                </a:solidFill>
                <a:latin typeface="Arial"/>
              </a:defRPr>
            </a:pPr>
            <a:r>
              <a:t>Free tiers are good; paid tiers (~$20/mo) are where the real power 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Hands-On: Setting Up Your Workspace</a:t>
            </a:r>
          </a:p>
        </p:txBody>
      </p:sp>
      <p:sp>
        <p:nvSpPr>
          <p:cNvPr id="3" name="Content Placeholder 2"/>
          <p:cNvSpPr>
            <a:spLocks noGrp="1"/>
          </p:cNvSpPr>
          <p:nvPr>
            <p:ph idx="1"/>
          </p:nvPr>
        </p:nvSpPr>
        <p:spPr/>
        <p:txBody>
          <a:bodyPr/>
          <a:lstStyle/>
          <a:p/>
          <a:p>
            <a:pPr>
              <a:defRPr sz="2400">
                <a:solidFill>
                  <a:srgbClr val="FFFFFF"/>
                </a:solidFill>
                <a:latin typeface="Arial"/>
              </a:defRPr>
            </a:pPr>
            <a:r>
              <a:t>Step 1: Create your account with a work-appropriate email (not your fun email)</a:t>
            </a:r>
          </a:p>
          <a:p>
            <a:pPr>
              <a:defRPr sz="2400">
                <a:solidFill>
                  <a:srgbClr val="FFFFFF"/>
                </a:solidFill>
                <a:latin typeface="Arial"/>
              </a:defRPr>
            </a:pPr>
            <a:r>
              <a:t>Step 2: Turn on chat history and explore the sidebar — projects and folders</a:t>
            </a:r>
          </a:p>
          <a:p>
            <a:pPr>
              <a:defRPr sz="2400">
                <a:solidFill>
                  <a:srgbClr val="FFFFFF"/>
                </a:solidFill>
                <a:latin typeface="Arial"/>
              </a:defRPr>
            </a:pPr>
            <a:r>
              <a:t>Step 3: Fill in Custom Instructions — tell it who you are and how you write</a:t>
            </a:r>
          </a:p>
          <a:p>
            <a:pPr>
              <a:defRPr sz="2400">
                <a:solidFill>
                  <a:srgbClr val="FFFFFF"/>
                </a:solidFill>
                <a:latin typeface="Arial"/>
              </a:defRPr>
            </a:pPr>
            <a:r>
              <a:t>Step 4: Bookmark it on desktop AND install the mobile 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Your First Real Prompt: The C.R.A.F.T. Formula</a:t>
            </a:r>
          </a:p>
        </p:txBody>
      </p:sp>
      <p:sp>
        <p:nvSpPr>
          <p:cNvPr id="3" name="Content Placeholder 2"/>
          <p:cNvSpPr>
            <a:spLocks noGrp="1"/>
          </p:cNvSpPr>
          <p:nvPr>
            <p:ph idx="1"/>
          </p:nvPr>
        </p:nvSpPr>
        <p:spPr/>
        <p:txBody>
          <a:bodyPr/>
          <a:lstStyle/>
          <a:p/>
          <a:p>
            <a:pPr>
              <a:defRPr sz="2400">
                <a:solidFill>
                  <a:srgbClr val="FFFFFF"/>
                </a:solidFill>
                <a:latin typeface="Arial"/>
              </a:defRPr>
            </a:pPr>
            <a:r>
              <a:t>C — Context: who you are and what the situation is</a:t>
            </a:r>
          </a:p>
          <a:p>
            <a:pPr>
              <a:defRPr sz="2400">
                <a:solidFill>
                  <a:srgbClr val="FFFFFF"/>
                </a:solidFill>
                <a:latin typeface="Arial"/>
              </a:defRPr>
            </a:pPr>
            <a:r>
              <a:t>R — Role: 'Act as a senior communications officer...'</a:t>
            </a:r>
          </a:p>
          <a:p>
            <a:pPr>
              <a:defRPr sz="2400">
                <a:solidFill>
                  <a:srgbClr val="FFFFFF"/>
                </a:solidFill>
                <a:latin typeface="Arial"/>
              </a:defRPr>
            </a:pPr>
            <a:r>
              <a:t>A — Action: the exact task, one clear verb</a:t>
            </a:r>
          </a:p>
          <a:p>
            <a:pPr>
              <a:defRPr sz="2400">
                <a:solidFill>
                  <a:srgbClr val="FFFFFF"/>
                </a:solidFill>
                <a:latin typeface="Arial"/>
              </a:defRPr>
            </a:pPr>
            <a:r>
              <a:t>F — Format: bullets, table, email, 200 words, tone</a:t>
            </a:r>
          </a:p>
          <a:p>
            <a:pPr>
              <a:defRPr sz="2400">
                <a:solidFill>
                  <a:srgbClr val="FFFFFF"/>
                </a:solidFill>
                <a:latin typeface="Arial"/>
              </a:defRPr>
            </a:pPr>
            <a:r>
              <a:t>T — Tighten: react to the draft and ask for one improvement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The Rules: Trust, Verify and Stay Safe</a:t>
            </a:r>
          </a:p>
        </p:txBody>
      </p:sp>
      <p:sp>
        <p:nvSpPr>
          <p:cNvPr id="3" name="Content Placeholder 2"/>
          <p:cNvSpPr>
            <a:spLocks noGrp="1"/>
          </p:cNvSpPr>
          <p:nvPr>
            <p:ph idx="1"/>
          </p:nvPr>
        </p:nvSpPr>
        <p:spPr/>
        <p:txBody>
          <a:bodyPr/>
          <a:lstStyle/>
          <a:p/>
          <a:p>
            <a:pPr>
              <a:defRPr sz="2400">
                <a:solidFill>
                  <a:srgbClr val="FFFFFF"/>
                </a:solidFill>
                <a:latin typeface="Arial"/>
              </a:defRPr>
            </a:pPr>
            <a:r>
              <a:t>Hallucination is real — AI can invent statistics, laws, citations and names</a:t>
            </a:r>
          </a:p>
          <a:p>
            <a:pPr>
              <a:defRPr sz="2400">
                <a:solidFill>
                  <a:srgbClr val="FFFFFF"/>
                </a:solidFill>
                <a:latin typeface="Arial"/>
              </a:defRPr>
            </a:pPr>
            <a:r>
              <a:t>Never paste client data, staff records, passwords or unreleased financials</a:t>
            </a:r>
          </a:p>
          <a:p>
            <a:pPr>
              <a:defRPr sz="2400">
                <a:solidFill>
                  <a:srgbClr val="FFFFFF"/>
                </a:solidFill>
                <a:latin typeface="Arial"/>
              </a:defRPr>
            </a:pPr>
            <a:r>
              <a:t>You own the output — your name goes on it, so you check it</a:t>
            </a:r>
          </a:p>
          <a:p>
            <a:pPr>
              <a:defRPr sz="2400">
                <a:solidFill>
                  <a:srgbClr val="FFFFFF"/>
                </a:solidFill>
                <a:latin typeface="Arial"/>
              </a:defRPr>
            </a:pPr>
            <a:r>
              <a:t>Rule of thumb: use AI for the draft, use your brain for the decision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Wrap-Up and Tonight's Mission</a:t>
            </a:r>
          </a:p>
        </p:txBody>
      </p:sp>
      <p:sp>
        <p:nvSpPr>
          <p:cNvPr id="3" name="Content Placeholder 2"/>
          <p:cNvSpPr>
            <a:spLocks noGrp="1"/>
          </p:cNvSpPr>
          <p:nvPr>
            <p:ph idx="1"/>
          </p:nvPr>
        </p:nvSpPr>
        <p:spPr/>
        <p:txBody>
          <a:bodyPr/>
          <a:lstStyle/>
          <a:p/>
          <a:p>
            <a:pPr>
              <a:defRPr sz="2400">
                <a:solidFill>
                  <a:srgbClr val="FFFFFF"/>
                </a:solidFill>
                <a:latin typeface="Arial"/>
              </a:defRPr>
            </a:pPr>
            <a:r>
              <a:t>Today you hired the brain, gave it your context, and wrote your first real prompt</a:t>
            </a:r>
          </a:p>
          <a:p>
            <a:pPr>
              <a:defRPr sz="2400">
                <a:solidFill>
                  <a:srgbClr val="FFFFFF"/>
                </a:solidFill>
                <a:latin typeface="Arial"/>
              </a:defRPr>
            </a:pPr>
            <a:r>
              <a:t>Homework: use AI on 3 real work tasks before tomorrow — save the best and the worst</a:t>
            </a:r>
          </a:p>
          <a:p>
            <a:pPr>
              <a:defRPr sz="2400">
                <a:solidFill>
                  <a:srgbClr val="FFFFFF"/>
                </a:solidFill>
                <a:latin typeface="Arial"/>
              </a:defRPr>
            </a:pPr>
            <a:r>
              <a:t>Bring one output that failed — we will fix it together live</a:t>
            </a:r>
          </a:p>
          <a:p>
            <a:pPr>
              <a:defRPr sz="2400">
                <a:solidFill>
                  <a:srgbClr val="FFFFFF"/>
                </a:solidFill>
                <a:latin typeface="Arial"/>
              </a:defRPr>
            </a:pPr>
            <a:r>
              <a:t>Tomorrow, Day 2: Train the Brain — prompt patterns that get expert-level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