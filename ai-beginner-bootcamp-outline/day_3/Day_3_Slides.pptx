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back warmly. Say: 'Raise your hand if you've ever had to re-explain your entire project to ChatGPT in a new tab. Painful, right?' Let them laugh. Frame today as the day their assistant stops being a stranger every morning. Emphasise that memory is the single upgrade that makes an AI feel like a real team member. Reassure the non-technical folks: 'If you can remember what you had for breakfast, you already understand today's topic.'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goldfish or the 'brilliant consultant with amnesia' analogy: imagine hiring a world-class consultant who forgets your company name every time they walk out the door. Reveal the trick behind ChatGPT — it isn't magic, the interface is resending the transcript. This is the 'aha' moment that demystifies everything. Ask the room: 'Where has this cost you time this week?' Collect two or three real examples to reference later in the 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 or show a whiteboard graphic. Physically point to the sections: system instructions in the corner (always there), conversation in the middle, pasted documents taking up huge space. Explain that 'context window' is just the technical name for whiteboard size, measured in tokens (roughly ¾ of a word). Warn them about the common beginner mistake: dumping a 60-page PDF in and wondering why quality collapsed. The lesson to repeat: curate, don't dump.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conceptual slide of the day — slow down here. Use the human analogy: short-term memory is remembering what your colleague said two minutes ago; long-term is remembering that they're allergic to peanuts. Give a business example: an agent that remembers you're drafting a proposal for MTN (short-term) AND that your company never uses exclamation marks in client emails (long-term). Tell them most people only ever use short-term memory, and that's why their AI feels shallow.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sessions with the file-folder analogy: you don't keep every client's paperwork in one drawer. Each session has an ID — that's all it is, a name tag the system uses to fetch the right history. Highlight the professional angle: if they build an assistant for their team or customers, sessions are what stop Customer A's data leaking into Customer B's reply. Mention that this is exactly how support chatbots keep thousands of conversations straight.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notebook metaphor: a good executive assistant keeps a one-page cheat sheet about you, not a recording of every word you've said. Walk through the summarise-and-store loop: conversation happens, key facts get extracted, facts get appended to the memory file, next session starts with that file loaded. Mention retrieval (RAG) lightly — 'instead of putting the whole library on the whiteboard, we send a librarian to fetch the right page.' Keep it conceptual; the lab will make it concrete.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into build mode. Walk the room; keep energy high. Give a concrete memory-file template on screen: role, industry, tone of voice, top three clients, tools used, things to never do. The 'summarise what you should remember' prompt is the day's power move — get everyone to write it down. Encourage pairs to test each other's agents with a question the agent shouldn't be able to answer unless memory is working. Celebrate the first person whose agent says 'As we discussed earlier...'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naming the risk honestly: memory makes an agent more useful and more confidently wrong if the facts rot. Recommend a monthly 15-minute memory review. Cover privacy plainly — treat the memory file like a shared document, because effectively it is. Then celebrate: 'Two days ago it could talk. Today it remembers. Tomorrow, it acts.' Ask each participant to post one line in the group chat about what their agent now remembers — this builds momentum into Day 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ctrTitle"/>
          </p:nvPr>
        </p:nvSpPr>
        <p:spPr/>
        <p:txBody>
          <a:bodyPr/>
          <a:lstStyle/>
          <a:p>
            <a:pPr>
              <a:defRPr sz="4000" b="1">
                <a:solidFill>
                  <a:srgbClr val="00E5FF"/>
                </a:solidFill>
                <a:latin typeface="Arial"/>
              </a:defRPr>
            </a:pPr>
            <a:r>
              <a:t>Day 3: Give it Memory (Sessions &amp; Context)</a:t>
            </a:r>
          </a:p>
        </p:txBody>
      </p:sp>
      <p:sp>
        <p:nvSpPr>
          <p:cNvPr id="3" name="Subtitle 2"/>
          <p:cNvSpPr>
            <a:spLocks noGrp="1"/>
          </p:cNvSpPr>
          <p:nvPr>
            <p:ph type="subTitle" idx="1"/>
          </p:nvPr>
        </p:nvSpPr>
        <p:spPr/>
        <p:txBody>
          <a:bodyPr/>
          <a:lstStyle/>
          <a:p>
            <a:pPr>
              <a:defRPr sz="2400">
                <a:solidFill>
                  <a:srgbClr val="FFFFFF"/>
                </a:solidFill>
              </a:defRPr>
            </a:pPr>
            <a:r>
              <a:t>AgenticLabs.ng AI Bootcamp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Day 3: Give It Memory — Sessions &amp; Context</a:t>
            </a:r>
          </a:p>
        </p:txBody>
      </p:sp>
      <p:sp>
        <p:nvSpPr>
          <p:cNvPr id="3" name="Content Placeholder 2"/>
          <p:cNvSpPr>
            <a:spLocks noGrp="1"/>
          </p:cNvSpPr>
          <p:nvPr>
            <p:ph idx="1"/>
          </p:nvPr>
        </p:nvSpPr>
        <p:spPr/>
        <p:txBody>
          <a:bodyPr/>
          <a:lstStyle/>
          <a:p/>
          <a:p>
            <a:pPr>
              <a:defRPr sz="2400">
                <a:solidFill>
                  <a:srgbClr val="FFFFFF"/>
                </a:solidFill>
                <a:latin typeface="Arial"/>
              </a:defRPr>
            </a:pPr>
            <a:r>
              <a:t>Yesterday your assistant could think. Today it will remember.</a:t>
            </a:r>
          </a:p>
          <a:p>
            <a:pPr>
              <a:defRPr sz="2400">
                <a:solidFill>
                  <a:srgbClr val="FFFFFF"/>
                </a:solidFill>
                <a:latin typeface="Arial"/>
              </a:defRPr>
            </a:pPr>
            <a:r>
              <a:t>Memory is the difference between a vending machine and a colleague.</a:t>
            </a:r>
          </a:p>
          <a:p>
            <a:pPr>
              <a:defRPr sz="2400">
                <a:solidFill>
                  <a:srgbClr val="FFFFFF"/>
                </a:solidFill>
                <a:latin typeface="Arial"/>
              </a:defRPr>
            </a:pPr>
            <a:r>
              <a:t>By the end of today: your agent will recall past chats, hold context, and stop asking you the same question twice.</a:t>
            </a:r>
          </a:p>
          <a:p>
            <a:pPr>
              <a:defRPr sz="2400">
                <a:solidFill>
                  <a:srgbClr val="FFFFFF"/>
                </a:solidFill>
                <a:latin typeface="Arial"/>
              </a:defRPr>
            </a:pPr>
            <a:r>
              <a:t>No code fear — we start with kitchen-table analogies, then get precise.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Goldfish Problem: Why AI Forgets</a:t>
            </a:r>
          </a:p>
        </p:txBody>
      </p:sp>
      <p:sp>
        <p:nvSpPr>
          <p:cNvPr id="3" name="Content Placeholder 2"/>
          <p:cNvSpPr>
            <a:spLocks noGrp="1"/>
          </p:cNvSpPr>
          <p:nvPr>
            <p:ph idx="1"/>
          </p:nvPr>
        </p:nvSpPr>
        <p:spPr/>
        <p:txBody>
          <a:bodyPr/>
          <a:lstStyle/>
          <a:p/>
          <a:p>
            <a:pPr>
              <a:defRPr sz="2400">
                <a:solidFill>
                  <a:srgbClr val="FFFFFF"/>
                </a:solidFill>
                <a:latin typeface="Arial"/>
              </a:defRPr>
            </a:pPr>
            <a:r>
              <a:t>Every message you send is treated as a brand-new conversation by default.</a:t>
            </a:r>
          </a:p>
          <a:p>
            <a:pPr>
              <a:defRPr sz="2400">
                <a:solidFill>
                  <a:srgbClr val="FFFFFF"/>
                </a:solidFill>
                <a:latin typeface="Arial"/>
              </a:defRPr>
            </a:pPr>
            <a:r>
              <a:t>The model has no diary, no notebook, no yesterday — it only sees what's in front of it right now.</a:t>
            </a:r>
          </a:p>
          <a:p>
            <a:pPr>
              <a:defRPr sz="2400">
                <a:solidFill>
                  <a:srgbClr val="FFFFFF"/>
                </a:solidFill>
                <a:latin typeface="Arial"/>
              </a:defRPr>
            </a:pPr>
            <a:r>
              <a:t>It feels like memory in ChatGPT because the app quietly re-sends the whole chat each time.</a:t>
            </a:r>
          </a:p>
          <a:p>
            <a:pPr>
              <a:defRPr sz="2400">
                <a:solidFill>
                  <a:srgbClr val="FFFFFF"/>
                </a:solidFill>
                <a:latin typeface="Arial"/>
              </a:defRPr>
            </a:pPr>
            <a:r>
              <a:t>Real cost: repeated instructions, lost decisions, inconsistent tone, wasted hours.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The Whiteboard Analogy: Understanding Context Windows</a:t>
            </a:r>
          </a:p>
        </p:txBody>
      </p:sp>
      <p:sp>
        <p:nvSpPr>
          <p:cNvPr id="3" name="Content Placeholder 2"/>
          <p:cNvSpPr>
            <a:spLocks noGrp="1"/>
          </p:cNvSpPr>
          <p:nvPr>
            <p:ph idx="1"/>
          </p:nvPr>
        </p:nvSpPr>
        <p:spPr/>
        <p:txBody>
          <a:bodyPr/>
          <a:lstStyle/>
          <a:p/>
          <a:p>
            <a:pPr>
              <a:defRPr sz="2400">
                <a:solidFill>
                  <a:srgbClr val="FFFFFF"/>
                </a:solidFill>
                <a:latin typeface="Arial"/>
              </a:defRPr>
            </a:pPr>
            <a:r>
              <a:t>Think of the AI's attention as a whiteboard of fixed size — everything it 'knows' right now must fit on it.</a:t>
            </a:r>
          </a:p>
          <a:p>
            <a:pPr>
              <a:defRPr sz="2400">
                <a:solidFill>
                  <a:srgbClr val="FFFFFF"/>
                </a:solidFill>
                <a:latin typeface="Arial"/>
              </a:defRPr>
            </a:pPr>
            <a:r>
              <a:t>Your instructions, the conversation, and any documents all compete for the same space.</a:t>
            </a:r>
          </a:p>
          <a:p>
            <a:pPr>
              <a:defRPr sz="2400">
                <a:solidFill>
                  <a:srgbClr val="FFFFFF"/>
                </a:solidFill>
                <a:latin typeface="Arial"/>
              </a:defRPr>
            </a:pPr>
            <a:r>
              <a:t>When the board fills up, the oldest notes get wiped to make room — that's why it 'forgets' mid-project.</a:t>
            </a:r>
          </a:p>
          <a:p>
            <a:pPr>
              <a:defRPr sz="2400">
                <a:solidFill>
                  <a:srgbClr val="FFFFFF"/>
                </a:solidFill>
                <a:latin typeface="Arial"/>
              </a:defRPr>
            </a:pPr>
            <a:r>
              <a:t>Bigger whiteboards exist, but a tidy whiteboard always beats a big messy one.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Two Kinds of Memory: Short-Term vs Long-Term</a:t>
            </a:r>
          </a:p>
        </p:txBody>
      </p:sp>
      <p:sp>
        <p:nvSpPr>
          <p:cNvPr id="3" name="Content Placeholder 2"/>
          <p:cNvSpPr>
            <a:spLocks noGrp="1"/>
          </p:cNvSpPr>
          <p:nvPr>
            <p:ph idx="1"/>
          </p:nvPr>
        </p:nvSpPr>
        <p:spPr/>
        <p:txBody>
          <a:bodyPr/>
          <a:lstStyle/>
          <a:p/>
          <a:p>
            <a:pPr>
              <a:defRPr sz="2400">
                <a:solidFill>
                  <a:srgbClr val="FFFFFF"/>
                </a:solidFill>
                <a:latin typeface="Arial"/>
              </a:defRPr>
            </a:pPr>
            <a:r>
              <a:t>Short-term (Session Memory): what happened in this conversation — like a meeting you're currently in.</a:t>
            </a:r>
          </a:p>
          <a:p>
            <a:pPr>
              <a:defRPr sz="2400">
                <a:solidFill>
                  <a:srgbClr val="FFFFFF"/>
                </a:solidFill>
                <a:latin typeface="Arial"/>
              </a:defRPr>
            </a:pPr>
            <a:r>
              <a:t>Long-term (Persistent Memory): facts that should survive forever — your brand voice, clients, preferences, policies.</a:t>
            </a:r>
          </a:p>
          <a:p>
            <a:pPr>
              <a:defRPr sz="2400">
                <a:solidFill>
                  <a:srgbClr val="FFFFFF"/>
                </a:solidFill>
                <a:latin typeface="Arial"/>
              </a:defRPr>
            </a:pPr>
            <a:r>
              <a:t>Short-term is free and automatic; long-term must be deliberately saved and retrieved.</a:t>
            </a:r>
          </a:p>
          <a:p>
            <a:pPr>
              <a:defRPr sz="2400">
                <a:solidFill>
                  <a:srgbClr val="FFFFFF"/>
                </a:solidFill>
                <a:latin typeface="Arial"/>
              </a:defRPr>
            </a:pPr>
            <a:r>
              <a:t>Great assistants use both: 'You said earlier...' plus 'I know you always...'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Sessions: Giving Every Conversation a Name Tag</a:t>
            </a:r>
          </a:p>
        </p:txBody>
      </p:sp>
      <p:sp>
        <p:nvSpPr>
          <p:cNvPr id="3" name="Content Placeholder 2"/>
          <p:cNvSpPr>
            <a:spLocks noGrp="1"/>
          </p:cNvSpPr>
          <p:nvPr>
            <p:ph idx="1"/>
          </p:nvPr>
        </p:nvSpPr>
        <p:spPr/>
        <p:txBody>
          <a:bodyPr/>
          <a:lstStyle/>
          <a:p/>
          <a:p>
            <a:pPr>
              <a:defRPr sz="2400">
                <a:solidFill>
                  <a:srgbClr val="FFFFFF"/>
                </a:solidFill>
                <a:latin typeface="Arial"/>
              </a:defRPr>
            </a:pPr>
            <a:r>
              <a:t>A session is simply a labelled container that holds one ongoing conversation and its history.</a:t>
            </a:r>
          </a:p>
          <a:p>
            <a:pPr>
              <a:defRPr sz="2400">
                <a:solidFill>
                  <a:srgbClr val="FFFFFF"/>
                </a:solidFill>
                <a:latin typeface="Arial"/>
              </a:defRPr>
            </a:pPr>
            <a:r>
              <a:t>One session per client, project, or workflow — never one giant messy thread.</a:t>
            </a:r>
          </a:p>
          <a:p>
            <a:pPr>
              <a:defRPr sz="2400">
                <a:solidFill>
                  <a:srgbClr val="FFFFFF"/>
                </a:solidFill>
                <a:latin typeface="Arial"/>
              </a:defRPr>
            </a:pPr>
            <a:r>
              <a:t>Sessions let the agent serve many people at once without mixing anyone's details up.</a:t>
            </a:r>
          </a:p>
          <a:p>
            <a:pPr>
              <a:defRPr sz="2400">
                <a:solidFill>
                  <a:srgbClr val="FFFFFF"/>
                </a:solidFill>
                <a:latin typeface="Arial"/>
              </a:defRPr>
            </a:pPr>
            <a:r>
              <a:t>Rule of thumb: if you'd start a new email thread for it, start a new session for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Long-Term Memory in Practice: The Assistant's Notebook</a:t>
            </a:r>
          </a:p>
        </p:txBody>
      </p:sp>
      <p:sp>
        <p:nvSpPr>
          <p:cNvPr id="3" name="Content Placeholder 2"/>
          <p:cNvSpPr>
            <a:spLocks noGrp="1"/>
          </p:cNvSpPr>
          <p:nvPr>
            <p:ph idx="1"/>
          </p:nvPr>
        </p:nvSpPr>
        <p:spPr/>
        <p:txBody>
          <a:bodyPr/>
          <a:lstStyle/>
          <a:p/>
          <a:p>
            <a:pPr>
              <a:defRPr sz="2400">
                <a:solidFill>
                  <a:srgbClr val="FFFFFF"/>
                </a:solidFill>
                <a:latin typeface="Arial"/>
              </a:defRPr>
            </a:pPr>
            <a:r>
              <a:t>Memory files: a simple, editable document of durable facts the agent reads before every task.</a:t>
            </a:r>
          </a:p>
          <a:p>
            <a:pPr>
              <a:defRPr sz="2400">
                <a:solidFill>
                  <a:srgbClr val="FFFFFF"/>
                </a:solidFill>
                <a:latin typeface="Arial"/>
              </a:defRPr>
            </a:pPr>
            <a:r>
              <a:t>Summarise, don't hoard — compress old conversations into short takeaways instead of full transcripts.</a:t>
            </a:r>
          </a:p>
          <a:p>
            <a:pPr>
              <a:defRPr sz="2400">
                <a:solidFill>
                  <a:srgbClr val="FFFFFF"/>
                </a:solidFill>
                <a:latin typeface="Arial"/>
              </a:defRPr>
            </a:pPr>
            <a:r>
              <a:t>Knowledge base retrieval: store many documents, and pull in only the relevant paragraphs on demand.</a:t>
            </a:r>
          </a:p>
          <a:p>
            <a:pPr>
              <a:defRPr sz="2400">
                <a:solidFill>
                  <a:srgbClr val="FFFFFF"/>
                </a:solidFill>
                <a:latin typeface="Arial"/>
              </a:defRPr>
            </a:pPr>
            <a:r>
              <a:t>Decide what deserves to be remembered — preferences, decisions and outcomes; not small talk.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Hands-On Lab: Build Your Remembering Assistant</a:t>
            </a:r>
          </a:p>
        </p:txBody>
      </p:sp>
      <p:sp>
        <p:nvSpPr>
          <p:cNvPr id="3" name="Content Placeholder 2"/>
          <p:cNvSpPr>
            <a:spLocks noGrp="1"/>
          </p:cNvSpPr>
          <p:nvPr>
            <p:ph idx="1"/>
          </p:nvPr>
        </p:nvSpPr>
        <p:spPr/>
        <p:txBody>
          <a:bodyPr/>
          <a:lstStyle/>
          <a:p/>
          <a:p>
            <a:pPr>
              <a:defRPr sz="2400">
                <a:solidFill>
                  <a:srgbClr val="FFFFFF"/>
                </a:solidFill>
                <a:latin typeface="Arial"/>
              </a:defRPr>
            </a:pPr>
            <a:r>
              <a:t>Step 1: Create a memory file with 8–10 durable facts about you or your business.</a:t>
            </a:r>
          </a:p>
          <a:p>
            <a:pPr>
              <a:defRPr sz="2400">
                <a:solidFill>
                  <a:srgbClr val="FFFFFF"/>
                </a:solidFill>
                <a:latin typeface="Arial"/>
              </a:defRPr>
            </a:pPr>
            <a:r>
              <a:t>Step 2: Set up named sessions for two different projects and confirm they stay separate.</a:t>
            </a:r>
          </a:p>
          <a:p>
            <a:pPr>
              <a:defRPr sz="2400">
                <a:solidFill>
                  <a:srgbClr val="FFFFFF"/>
                </a:solidFill>
                <a:latin typeface="Arial"/>
              </a:defRPr>
            </a:pPr>
            <a:r>
              <a:t>Step 3: End a conversation with 'Summarise what you should remember' and save the output.</a:t>
            </a:r>
          </a:p>
          <a:p>
            <a:pPr>
              <a:defRPr sz="2400">
                <a:solidFill>
                  <a:srgbClr val="FFFFFF"/>
                </a:solidFill>
                <a:latin typeface="Arial"/>
              </a:defRPr>
            </a:pPr>
            <a:r>
              <a:t>Step 4: Open a fresh session tomorrow-style and test — does it still know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20"/>
        </a:solidFill>
        <a:effectLst/>
      </p:bgPr>
    </p:bg>
    <p:spTree>
      <p:nvGrpSpPr>
        <p:cNvPr id="1" name=""/>
        <p:cNvGrpSpPr/>
        <p:nvPr/>
      </p:nvGrpSpPr>
      <p:grpSpPr/>
      <p:sp>
        <p:nvSpPr>
          <p:cNvPr id="2" name="Title 1"/>
          <p:cNvSpPr>
            <a:spLocks noGrp="1"/>
          </p:cNvSpPr>
          <p:nvPr>
            <p:ph type="title"/>
          </p:nvPr>
        </p:nvSpPr>
        <p:spPr/>
        <p:txBody>
          <a:bodyPr/>
          <a:lstStyle/>
          <a:p>
            <a:pPr>
              <a:defRPr sz="4000" b="1">
                <a:solidFill>
                  <a:srgbClr val="00E5FF"/>
                </a:solidFill>
                <a:latin typeface="Arial"/>
              </a:defRPr>
            </a:pPr>
            <a:r>
              <a:t>Guardrails, Wins &amp; What's Next</a:t>
            </a:r>
          </a:p>
        </p:txBody>
      </p:sp>
      <p:sp>
        <p:nvSpPr>
          <p:cNvPr id="3" name="Content Placeholder 2"/>
          <p:cNvSpPr>
            <a:spLocks noGrp="1"/>
          </p:cNvSpPr>
          <p:nvPr>
            <p:ph idx="1"/>
          </p:nvPr>
        </p:nvSpPr>
        <p:spPr/>
        <p:txBody>
          <a:bodyPr/>
          <a:lstStyle/>
          <a:p/>
          <a:p>
            <a:pPr>
              <a:defRPr sz="2400">
                <a:solidFill>
                  <a:srgbClr val="FFFFFF"/>
                </a:solidFill>
                <a:latin typeface="Arial"/>
              </a:defRPr>
            </a:pPr>
            <a:r>
              <a:t>Memory hygiene: review and prune monthly — stale facts cause confident, wrong answers.</a:t>
            </a:r>
          </a:p>
          <a:p>
            <a:pPr>
              <a:defRPr sz="2400">
                <a:solidFill>
                  <a:srgbClr val="FFFFFF"/>
                </a:solidFill>
                <a:latin typeface="Arial"/>
              </a:defRPr>
            </a:pPr>
            <a:r>
              <a:t>Privacy first: never store passwords, IDs, or client data you wouldn't put in a shared drive.</a:t>
            </a:r>
          </a:p>
          <a:p>
            <a:pPr>
              <a:defRPr sz="2400">
                <a:solidFill>
                  <a:srgbClr val="FFFFFF"/>
                </a:solidFill>
                <a:latin typeface="Arial"/>
              </a:defRPr>
            </a:pPr>
            <a:r>
              <a:t>Today's win: your assistant now has continuity — it knows you, your work and your standards.</a:t>
            </a:r>
          </a:p>
          <a:p>
            <a:pPr>
              <a:defRPr sz="2400">
                <a:solidFill>
                  <a:srgbClr val="FFFFFF"/>
                </a:solidFill>
                <a:latin typeface="Arial"/>
              </a:defRPr>
            </a:pPr>
            <a:r>
              <a:t>Tomorrow (Day 4): Give it Hands — connecting your agent to real tools and taking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