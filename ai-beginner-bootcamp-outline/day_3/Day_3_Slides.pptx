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 Remind everyone how far they have come: Day 1 they set up the workspace, Day 2 they got their assistant answering questions. Today is the day it stops being a stranger every time they say hello. Ask the room: how many of you have had to re-explain yourself to an AI three times in one sitting? Let them laugh, then say that ends today. Keep it light, no jargon yet.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live if you can. Two messages in a fresh chat with no memory wired in: introduce yourself, then ask for your name. Let the failure land. Explain gently that the model is not broken and not forgetful in a human way. It genuinely receives each request in isolation, like a brilliant consultant who is handed one sticky note at a time and never keeps the old ones. Frame it as our job to hand it the whole stack of notes.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 that unlocks the whole day, so slow down here. Use the sticky-note image again: we do not upgrade the consultant's brain, we just staple all the previous notes to the new one before we hand it over. Emphasise that the model is stateless and our app is what holds the state. Once people internalise this, everything about sessions and context limits makes obvious sense. Ask if anyone wants it explained a second way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term context window plainly, then immediately anchor it to the desk metaphor. Stress that the system prompt, chat history, retrieved documents and the current question all share the same desk. Mention tokens only briefly: roughly a token is a chunk of a word, and you do not need to count them by hand today. The takeaway is that the space is generous but finite, and long conversations eventually push early details off the edge.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sessions as labelled folders. Every message gets filed under a session ID, and when a new message arrives we pull only that folder's history. Give a relatable example: notes about a client project should not surface while planning a family trip. Point out that this is also how a real product serves many users at once, each with their own session, without mixing anyone's data. That last point makes the pattern feel professional rather than academic.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block. Walk through the four steps slowly and let people type along rather than copy blindly. A simple dictionary or list in memory is enough right now; note that it resets when the app restarts and that persistence comes later in the week. The name test in step 4 is the moment of truth, so make space for it and celebrate when the assistant answers correctly. Circulate and help anyone stuck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good problem to have, the sign of an assistant people actually use. Explain each option in one line: trimming is the simplest, summarising preserves the thread more cheaply, and selective retrieval is the most powerful. Be explicit that a rolling window is the right choice today and that tomorrow's work on documents and retrieval builds directly on option 3. Discourage over-engineering; the goal is a working memory, not a perfect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naming the shift out loud: this morning they had a question-and-answer tool, tonight they have something that follows a conversation. Recap the three ideas in plain language: stateless models, replayed history, scoped sessions. Set up Day 4 with a hook: right now the assistant remembers what you told it, and tomorrow it will know what you have written. Encourage everyone to spend ten minutes tonight just chatting with their build and noticing where memory helps and where it strains.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ctrTitle"/>
          </p:nvPr>
        </p:nvSpPr>
        <p:spPr/>
        <p:txBody>
          <a:bodyPr/>
          <a:lstStyle/>
          <a:p>
            <a:pPr>
              <a:defRPr sz="4000" b="1">
                <a:solidFill>
                  <a:srgbClr val="00E5FF"/>
                </a:solidFill>
                <a:latin typeface="Arial"/>
              </a:defRPr>
            </a:pPr>
            <a:r>
              <a:t>Day 3: Give it Memory (Sessions &amp; Context)</a:t>
            </a:r>
          </a:p>
        </p:txBody>
      </p:sp>
      <p:sp>
        <p:nvSpPr>
          <p:cNvPr id="3" name="Subtitle 2"/>
          <p:cNvSpPr>
            <a:spLocks noGrp="1"/>
          </p:cNvSpPr>
          <p:nvPr>
            <p:ph type="subTitle" idx="1"/>
          </p:nvPr>
        </p:nvSpPr>
        <p:spPr/>
        <p:txBody>
          <a:bodyPr/>
          <a:lstStyle/>
          <a:p>
            <a:pPr>
              <a:defRPr sz="2400">
                <a:solidFill>
                  <a:srgbClr val="FFFFFF"/>
                </a:solidFill>
              </a:defRPr>
            </a:pPr>
            <a:r>
              <a:t>AgenticLabs.ng AI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Day 3: Give It Memory</a:t>
            </a:r>
          </a:p>
        </p:txBody>
      </p:sp>
      <p:sp>
        <p:nvSpPr>
          <p:cNvPr id="3" name="Content Placeholder 2"/>
          <p:cNvSpPr>
            <a:spLocks noGrp="1"/>
          </p:cNvSpPr>
          <p:nvPr>
            <p:ph idx="1"/>
          </p:nvPr>
        </p:nvSpPr>
        <p:spPr/>
        <p:txBody>
          <a:bodyPr/>
          <a:lstStyle/>
          <a:p/>
          <a:p>
            <a:pPr>
              <a:defRPr sz="2400">
                <a:solidFill>
                  <a:srgbClr val="FFFFFF"/>
                </a:solidFill>
                <a:latin typeface="Arial"/>
              </a:defRPr>
            </a:pPr>
            <a:r>
              <a:t>Yesterday your assistant could answer. Today it will remember.</a:t>
            </a:r>
          </a:p>
          <a:p>
            <a:pPr>
              <a:defRPr sz="2400">
                <a:solidFill>
                  <a:srgbClr val="FFFFFF"/>
                </a:solidFill>
                <a:latin typeface="Arial"/>
              </a:defRPr>
            </a:pPr>
            <a:r>
              <a:t>Memory is what turns a clever tool into a real companion</a:t>
            </a:r>
          </a:p>
          <a:p>
            <a:pPr>
              <a:defRPr sz="2400">
                <a:solidFill>
                  <a:srgbClr val="FFFFFF"/>
                </a:solidFill>
                <a:latin typeface="Arial"/>
              </a:defRPr>
            </a:pPr>
            <a:r>
              <a:t>By the end of today, your Second Brain will recall your last conversation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The Goldfish Problem</a:t>
            </a:r>
          </a:p>
        </p:txBody>
      </p:sp>
      <p:sp>
        <p:nvSpPr>
          <p:cNvPr id="3" name="Content Placeholder 2"/>
          <p:cNvSpPr>
            <a:spLocks noGrp="1"/>
          </p:cNvSpPr>
          <p:nvPr>
            <p:ph idx="1"/>
          </p:nvPr>
        </p:nvSpPr>
        <p:spPr/>
        <p:txBody>
          <a:bodyPr/>
          <a:lstStyle/>
          <a:p/>
          <a:p>
            <a:pPr>
              <a:defRPr sz="2400">
                <a:solidFill>
                  <a:srgbClr val="FFFFFF"/>
                </a:solidFill>
                <a:latin typeface="Arial"/>
              </a:defRPr>
            </a:pPr>
            <a:r>
              <a:t>Every message you send is treated like the first message ever</a:t>
            </a:r>
          </a:p>
          <a:p>
            <a:pPr>
              <a:defRPr sz="2400">
                <a:solidFill>
                  <a:srgbClr val="FFFFFF"/>
                </a:solidFill>
                <a:latin typeface="Arial"/>
              </a:defRPr>
            </a:pPr>
            <a:r>
              <a:t>You say 'my name is Chidi', then ask 'what is my name?' and it has no idea</a:t>
            </a:r>
          </a:p>
          <a:p>
            <a:pPr>
              <a:defRPr sz="2400">
                <a:solidFill>
                  <a:srgbClr val="FFFFFF"/>
                </a:solidFill>
                <a:latin typeface="Arial"/>
              </a:defRPr>
            </a:pPr>
            <a:r>
              <a:t>This is not a bug. It is the default behaviour of every model</a:t>
            </a:r>
          </a:p>
          <a:p>
            <a:pPr>
              <a:defRPr sz="2400">
                <a:solidFill>
                  <a:srgbClr val="FFFFFF"/>
                </a:solidFill>
                <a:latin typeface="Arial"/>
              </a:defRPr>
            </a:pPr>
            <a:r>
              <a:t>The model has knowledge, but no history with you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How Memory Actually Works</a:t>
            </a:r>
          </a:p>
        </p:txBody>
      </p:sp>
      <p:sp>
        <p:nvSpPr>
          <p:cNvPr id="3" name="Content Placeholder 2"/>
          <p:cNvSpPr>
            <a:spLocks noGrp="1"/>
          </p:cNvSpPr>
          <p:nvPr>
            <p:ph idx="1"/>
          </p:nvPr>
        </p:nvSpPr>
        <p:spPr/>
        <p:txBody>
          <a:bodyPr/>
          <a:lstStyle/>
          <a:p/>
          <a:p>
            <a:pPr>
              <a:defRPr sz="2400">
                <a:solidFill>
                  <a:srgbClr val="FFFFFF"/>
                </a:solidFill>
                <a:latin typeface="Arial"/>
              </a:defRPr>
            </a:pPr>
            <a:r>
              <a:t>The secret: we resend the conversation with every new message</a:t>
            </a:r>
          </a:p>
          <a:p>
            <a:pPr>
              <a:defRPr sz="2400">
                <a:solidFill>
                  <a:srgbClr val="FFFFFF"/>
                </a:solidFill>
                <a:latin typeface="Arial"/>
              </a:defRPr>
            </a:pPr>
            <a:r>
              <a:t>Message 1 sends: your question</a:t>
            </a:r>
          </a:p>
          <a:p>
            <a:pPr>
              <a:defRPr sz="2400">
                <a:solidFill>
                  <a:srgbClr val="FFFFFF"/>
                </a:solidFill>
                <a:latin typeface="Arial"/>
              </a:defRPr>
            </a:pPr>
            <a:r>
              <a:t>Message 5 sends: messages 1 through 4, plus your new question</a:t>
            </a:r>
          </a:p>
          <a:p>
            <a:pPr>
              <a:defRPr sz="2400">
                <a:solidFill>
                  <a:srgbClr val="FFFFFF"/>
                </a:solidFill>
                <a:latin typeface="Arial"/>
              </a:defRPr>
            </a:pPr>
            <a:r>
              <a:t>Memory is not stored inside the model. It is stored by you and replayed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Meet the Context Window</a:t>
            </a:r>
          </a:p>
        </p:txBody>
      </p:sp>
      <p:sp>
        <p:nvSpPr>
          <p:cNvPr id="3" name="Content Placeholder 2"/>
          <p:cNvSpPr>
            <a:spLocks noGrp="1"/>
          </p:cNvSpPr>
          <p:nvPr>
            <p:ph idx="1"/>
          </p:nvPr>
        </p:nvSpPr>
        <p:spPr/>
        <p:txBody>
          <a:bodyPr/>
          <a:lstStyle/>
          <a:p/>
          <a:p>
            <a:pPr>
              <a:defRPr sz="2400">
                <a:solidFill>
                  <a:srgbClr val="FFFFFF"/>
                </a:solidFill>
                <a:latin typeface="Arial"/>
              </a:defRPr>
            </a:pPr>
            <a:r>
              <a:t>The context window is how much text the model can hold at once</a:t>
            </a:r>
          </a:p>
          <a:p>
            <a:pPr>
              <a:defRPr sz="2400">
                <a:solidFill>
                  <a:srgbClr val="FFFFFF"/>
                </a:solidFill>
                <a:latin typeface="Arial"/>
              </a:defRPr>
            </a:pPr>
            <a:r>
              <a:t>Think of it as the desk, not the filing cabinet</a:t>
            </a:r>
          </a:p>
          <a:p>
            <a:pPr>
              <a:defRPr sz="2400">
                <a:solidFill>
                  <a:srgbClr val="FFFFFF"/>
                </a:solidFill>
                <a:latin typeface="Arial"/>
              </a:defRPr>
            </a:pPr>
            <a:r>
              <a:t>Everything counts: your messages, its replies, your instructions, your documents</a:t>
            </a:r>
          </a:p>
          <a:p>
            <a:pPr>
              <a:defRPr sz="2400">
                <a:solidFill>
                  <a:srgbClr val="FFFFFF"/>
                </a:solidFill>
                <a:latin typeface="Arial"/>
              </a:defRPr>
            </a:pPr>
            <a:r>
              <a:t>When the desk fills up, the oldest papers fall off the edge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Sessions: Giving Each Conversation a Name</a:t>
            </a:r>
          </a:p>
        </p:txBody>
      </p:sp>
      <p:sp>
        <p:nvSpPr>
          <p:cNvPr id="3" name="Content Placeholder 2"/>
          <p:cNvSpPr>
            <a:spLocks noGrp="1"/>
          </p:cNvSpPr>
          <p:nvPr>
            <p:ph idx="1"/>
          </p:nvPr>
        </p:nvSpPr>
        <p:spPr/>
        <p:txBody>
          <a:bodyPr/>
          <a:lstStyle/>
          <a:p/>
          <a:p>
            <a:pPr>
              <a:defRPr sz="2400">
                <a:solidFill>
                  <a:srgbClr val="FFFFFF"/>
                </a:solidFill>
                <a:latin typeface="Arial"/>
              </a:defRPr>
            </a:pPr>
            <a:r>
              <a:t>A session is one conversation, with its own ID and its own history</a:t>
            </a:r>
          </a:p>
          <a:p>
            <a:pPr>
              <a:defRPr sz="2400">
                <a:solidFill>
                  <a:srgbClr val="FFFFFF"/>
                </a:solidFill>
                <a:latin typeface="Arial"/>
              </a:defRPr>
            </a:pPr>
            <a:r>
              <a:t>Work chat, study chat, and personal chat should not bleed into each other</a:t>
            </a:r>
          </a:p>
          <a:p>
            <a:pPr>
              <a:defRPr sz="2400">
                <a:solidFill>
                  <a:srgbClr val="FFFFFF"/>
                </a:solidFill>
                <a:latin typeface="Arial"/>
              </a:defRPr>
            </a:pPr>
            <a:r>
              <a:t>Same assistant, different memories, chosen by session ID</a:t>
            </a:r>
          </a:p>
          <a:p>
            <a:pPr>
              <a:defRPr sz="2400">
                <a:solidFill>
                  <a:srgbClr val="FFFFFF"/>
                </a:solidFill>
                <a:latin typeface="Arial"/>
              </a:defRPr>
            </a:pPr>
            <a:r>
              <a:t>This is how one Second Brain serves many parts of your life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Build It: Wiring Memory In</a:t>
            </a:r>
          </a:p>
        </p:txBody>
      </p:sp>
      <p:sp>
        <p:nvSpPr>
          <p:cNvPr id="3" name="Content Placeholder 2"/>
          <p:cNvSpPr>
            <a:spLocks noGrp="1"/>
          </p:cNvSpPr>
          <p:nvPr>
            <p:ph idx="1"/>
          </p:nvPr>
        </p:nvSpPr>
        <p:spPr/>
        <p:txBody>
          <a:bodyPr/>
          <a:lstStyle/>
          <a:p/>
          <a:p>
            <a:pPr>
              <a:defRPr sz="2400">
                <a:solidFill>
                  <a:srgbClr val="FFFFFF"/>
                </a:solidFill>
                <a:latin typeface="Arial"/>
              </a:defRPr>
            </a:pPr>
            <a:r>
              <a:t>Step 1: create a store that keeps messages keyed by session ID</a:t>
            </a:r>
          </a:p>
          <a:p>
            <a:pPr>
              <a:defRPr sz="2400">
                <a:solidFill>
                  <a:srgbClr val="FFFFFF"/>
                </a:solidFill>
                <a:latin typeface="Arial"/>
              </a:defRPr>
            </a:pPr>
            <a:r>
              <a:t>Step 2: append every user message and every assistant reply as they happen</a:t>
            </a:r>
          </a:p>
          <a:p>
            <a:pPr>
              <a:defRPr sz="2400">
                <a:solidFill>
                  <a:srgbClr val="FFFFFF"/>
                </a:solidFill>
                <a:latin typeface="Arial"/>
              </a:defRPr>
            </a:pPr>
            <a:r>
              <a:t>Step 3: load that history and send it with the next request</a:t>
            </a:r>
          </a:p>
          <a:p>
            <a:pPr>
              <a:defRPr sz="2400">
                <a:solidFill>
                  <a:srgbClr val="FFFFFF"/>
                </a:solidFill>
                <a:latin typeface="Arial"/>
              </a:defRPr>
            </a:pPr>
            <a:r>
              <a:t>Step 4: test it by introducing yourself, then asking who you 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When Memory Gets Too Big</a:t>
            </a:r>
          </a:p>
        </p:txBody>
      </p:sp>
      <p:sp>
        <p:nvSpPr>
          <p:cNvPr id="3" name="Content Placeholder 2"/>
          <p:cNvSpPr>
            <a:spLocks noGrp="1"/>
          </p:cNvSpPr>
          <p:nvPr>
            <p:ph idx="1"/>
          </p:nvPr>
        </p:nvSpPr>
        <p:spPr/>
        <p:txBody>
          <a:bodyPr/>
          <a:lstStyle/>
          <a:p/>
          <a:p>
            <a:pPr>
              <a:defRPr sz="2400">
                <a:solidFill>
                  <a:srgbClr val="FFFFFF"/>
                </a:solidFill>
                <a:latin typeface="Arial"/>
              </a:defRPr>
            </a:pPr>
            <a:r>
              <a:t>Long conversations eventually overflow the context window</a:t>
            </a:r>
          </a:p>
          <a:p>
            <a:pPr>
              <a:defRPr sz="2400">
                <a:solidFill>
                  <a:srgbClr val="FFFFFF"/>
                </a:solidFill>
                <a:latin typeface="Arial"/>
              </a:defRPr>
            </a:pPr>
            <a:r>
              <a:t>Option 1: keep a rolling window of the most recent messages</a:t>
            </a:r>
          </a:p>
          <a:p>
            <a:pPr>
              <a:defRPr sz="2400">
                <a:solidFill>
                  <a:srgbClr val="FFFFFF"/>
                </a:solidFill>
                <a:latin typeface="Arial"/>
              </a:defRPr>
            </a:pPr>
            <a:r>
              <a:t>Option 2: summarise older turns into a short recap and keep the recap</a:t>
            </a:r>
          </a:p>
          <a:p>
            <a:pPr>
              <a:defRPr sz="2400">
                <a:solidFill>
                  <a:srgbClr val="FFFFFF"/>
                </a:solidFill>
                <a:latin typeface="Arial"/>
              </a:defRPr>
            </a:pPr>
            <a:r>
              <a:t>Option 3: store key facts separately and pull in only what is relevant</a:t>
            </a:r>
          </a:p>
          <a:p>
            <a:pPr>
              <a:defRPr sz="2400">
                <a:solidFill>
                  <a:srgbClr val="FFFFFF"/>
                </a:solidFill>
                <a:latin typeface="Arial"/>
              </a:defRPr>
            </a:pPr>
            <a:r>
              <a:t>Start with option 1. Reach for the others when you feel the limit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What You Built Today</a:t>
            </a:r>
          </a:p>
        </p:txBody>
      </p:sp>
      <p:sp>
        <p:nvSpPr>
          <p:cNvPr id="3" name="Content Placeholder 2"/>
          <p:cNvSpPr>
            <a:spLocks noGrp="1"/>
          </p:cNvSpPr>
          <p:nvPr>
            <p:ph idx="1"/>
          </p:nvPr>
        </p:nvSpPr>
        <p:spPr/>
        <p:txBody>
          <a:bodyPr/>
          <a:lstStyle/>
          <a:p/>
          <a:p>
            <a:pPr>
              <a:defRPr sz="2400">
                <a:solidFill>
                  <a:srgbClr val="FFFFFF"/>
                </a:solidFill>
                <a:latin typeface="Arial"/>
              </a:defRPr>
            </a:pPr>
            <a:r>
              <a:t>You understand why models forget, and how we make them remember</a:t>
            </a:r>
          </a:p>
          <a:p>
            <a:pPr>
              <a:defRPr sz="2400">
                <a:solidFill>
                  <a:srgbClr val="FFFFFF"/>
                </a:solidFill>
                <a:latin typeface="Arial"/>
              </a:defRPr>
            </a:pPr>
            <a:r>
              <a:t>You know the difference between the desk and the filing cabinet</a:t>
            </a:r>
          </a:p>
          <a:p>
            <a:pPr>
              <a:defRPr sz="2400">
                <a:solidFill>
                  <a:srgbClr val="FFFFFF"/>
                </a:solidFill>
                <a:latin typeface="Arial"/>
              </a:defRPr>
            </a:pPr>
            <a:r>
              <a:t>Your assistant now holds a real conversation across many turns</a:t>
            </a:r>
          </a:p>
          <a:p>
            <a:pPr>
              <a:defRPr sz="2400">
                <a:solidFill>
                  <a:srgbClr val="FFFFFF"/>
                </a:solidFill>
                <a:latin typeface="Arial"/>
              </a:defRPr>
            </a:pPr>
            <a:r>
              <a:t>Tomorrow: feed it your own documents and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