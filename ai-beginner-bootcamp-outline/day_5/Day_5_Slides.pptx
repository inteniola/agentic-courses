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energy and a moment of recognition. Say: 'Take a breath and look at how far you've come. On Monday, many of you had never written a structured prompt. Today you're going to build a team of AI agents that work together while you sleep.' Remind them that the skill they've been building all week is not technical — it's the skill of thinking clearly about work. Today we simply apply that skill to more than one worker at a time. Set the tone: this is the fun day, and it ends with a launch.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a relatable analogy: 'Imagine hiring one person to be your researcher, your copywriter, your editor AND your fact-checker — all at the same time, in the same five minutes. You'd get something okay but not great.' Explain that this is exactly what happens when we cram everything into one giant prompt. Show a quick before/after if you have it: one bloated prompt versus three focused ones. Emphasise that splitting work into stages is not more complicated — it is actually simpler, because each instruction gets shorter and clearer.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each role slowly, using an office metaphor the room will recognise. The Manager is the team lead who says 'you do this, then you do that'. Specialists are your researcher, your writer, your designer. The Reviewer is the quality control person who saves you from embarrassment. Stress the Handoff — this is the concept that makes multi-agent work click. Tell them: 'A team is just specialists plus handoffs. That's the entire idea. Everything else is detail.' Ask the room to name a task in their own job that naturally has three stages.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templates participants will actually reuse, so spend time here. For the Assembly Line, give a concrete example: a market update newsletter where one agent gathers the week's news, one writes it in your voice, one cuts it to 300 words. For the Panel, use a decision example: should we take this client? Get an optimist agent, a risk agent, and a finance agent, then compare. For Inbox Triage, use customer support or recruitment CVs. Tell them to choose ONE shape now — they will build it in the next 40 minutes, so decisiveness matters more than perfection.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honest here; credibility comes from naming the failure modes. Tell a short story of a workflow that looped forever because two agents kept 'improving' each other's work. The fix is boring and effective: tell each agent exactly what it must produce — 'return a bulleted list of 5 items, nothing else' — and cap the revisions. Emphasise the human checkpoint heavily: 'Your name is on the output. Automate the work, never the accountability.' End the slide by giving permission to keep things small: a two-agent team that runs reliably beats a six-agent team that breaks.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Transition into hands-on mode. Put a 40-minute timer on the screen. Repeat the instruction to use a REAL task — the learning only sticks when the output matters. Circulate and ask two diagnostic questions at each table: 'What is each agent's single job?' and 'What exactly does agent one hand to agent two?' If someone is stuck, tell them to cut a stage rather than add one. Warn them at the 10-minute mark and again at the 5-minute mark, because they will want more time. Collect two or three examples to demo in front of the room.</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Shift from building to sustaining. Explain that most people leave a bootcamp inspired and change nothing, and the difference between them and the people whose careers shift is a four-week commitment to one workflow. Ask each participant to say out loud, to the person next to them, the exact workflow they will run and the day of the week they will run it. Encourage tracking hours saved — this is the evidence they will use when asking for budget, a raise, or a new role. Remind them that showing a colleague multiplies their reputation inside the organisation.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warmly and with conviction. Recap the arc of the week out loud so they feel the distance travelled — prompting, then structuring, then automating, then delegating, then orchestrating. Name the real insight: the scarce skill is no longer doing the task, it is knowing what excellent output looks like and designing systems to produce it. Invite them into the AgenticLabs community, mention any alumni channel, office hours or next cohort, and ask them to post their first working build this week. Finish with applause for the room and a clear call to action: 'Run your workflow on Monday. Not someday — Monday.'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1120"/>
        </a:solidFill>
        <a:effectLst/>
      </p:bgPr>
    </p:bg>
    <p:spTree>
      <p:nvGrpSpPr>
        <p:cNvPr id="1" name=""/>
        <p:cNvGrpSpPr/>
        <p:nvPr/>
      </p:nvGrpSpPr>
      <p:grpSpPr/>
      <p:sp>
        <p:nvSpPr>
          <p:cNvPr id="2" name="Title 1"/>
          <p:cNvSpPr>
            <a:spLocks noGrp="1"/>
          </p:cNvSpPr>
          <p:nvPr>
            <p:ph type="ctrTitle"/>
          </p:nvPr>
        </p:nvSpPr>
        <p:spPr/>
        <p:txBody>
          <a:bodyPr/>
          <a:lstStyle/>
          <a:p>
            <a:pPr>
              <a:defRPr sz="4000" b="1">
                <a:solidFill>
                  <a:srgbClr val="00E5FF"/>
                </a:solidFill>
                <a:latin typeface="Arial"/>
              </a:defRPr>
            </a:pPr>
            <a:r>
              <a:t>Day 5: Multi-Agent Teams &amp; Launch</a:t>
            </a:r>
          </a:p>
        </p:txBody>
      </p:sp>
      <p:sp>
        <p:nvSpPr>
          <p:cNvPr id="3" name="Subtitle 2"/>
          <p:cNvSpPr>
            <a:spLocks noGrp="1"/>
          </p:cNvSpPr>
          <p:nvPr>
            <p:ph type="subTitle" idx="1"/>
          </p:nvPr>
        </p:nvSpPr>
        <p:spPr/>
        <p:txBody>
          <a:bodyPr/>
          <a:lstStyle/>
          <a:p>
            <a:pPr>
              <a:defRPr sz="2400">
                <a:solidFill>
                  <a:srgbClr val="FFFFFF"/>
                </a:solidFill>
              </a:defRPr>
            </a:pPr>
            <a:r>
              <a:t>AgenticLabs.ng AI Bootcamp</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1120"/>
        </a:solidFill>
        <a:effectLst/>
      </p:bgPr>
    </p:bg>
    <p:spTree>
      <p:nvGrpSpPr>
        <p:cNvPr id="1" name=""/>
        <p:cNvGrpSpPr/>
        <p:nvPr/>
      </p:nvGrpSpPr>
      <p:grpSpPr/>
      <p:sp>
        <p:nvSpPr>
          <p:cNvPr id="2" name="Title 1"/>
          <p:cNvSpPr>
            <a:spLocks noGrp="1"/>
          </p:cNvSpPr>
          <p:nvPr>
            <p:ph type="title"/>
          </p:nvPr>
        </p:nvSpPr>
        <p:spPr/>
        <p:txBody>
          <a:bodyPr/>
          <a:lstStyle/>
          <a:p>
            <a:pPr>
              <a:defRPr sz="4000" b="1">
                <a:solidFill>
                  <a:srgbClr val="00E5FF"/>
                </a:solidFill>
                <a:latin typeface="Arial"/>
              </a:defRPr>
            </a:pPr>
            <a:r>
              <a:t>Day 5: From Solo Assistant to Your Own AI Team</a:t>
            </a:r>
          </a:p>
        </p:txBody>
      </p:sp>
      <p:sp>
        <p:nvSpPr>
          <p:cNvPr id="3" name="Content Placeholder 2"/>
          <p:cNvSpPr>
            <a:spLocks noGrp="1"/>
          </p:cNvSpPr>
          <p:nvPr>
            <p:ph idx="1"/>
          </p:nvPr>
        </p:nvSpPr>
        <p:spPr/>
        <p:txBody>
          <a:bodyPr/>
          <a:lstStyle/>
          <a:p/>
          <a:p>
            <a:pPr>
              <a:defRPr sz="2400">
                <a:solidFill>
                  <a:srgbClr val="FFFFFF"/>
                </a:solidFill>
                <a:latin typeface="Arial"/>
              </a:defRPr>
            </a:pPr>
            <a:r>
              <a:t>You started this week writing prompts — today you'll direct a team</a:t>
            </a:r>
          </a:p>
          <a:p>
            <a:pPr>
              <a:defRPr sz="2400">
                <a:solidFill>
                  <a:srgbClr val="FFFFFF"/>
                </a:solidFill>
                <a:latin typeface="Arial"/>
              </a:defRPr>
            </a:pPr>
            <a:r>
              <a:t>Yesterday: one agent doing one job well. Today: several agents working together</a:t>
            </a:r>
          </a:p>
          <a:p>
            <a:pPr>
              <a:defRPr sz="2400">
                <a:solidFill>
                  <a:srgbClr val="FFFFFF"/>
                </a:solidFill>
                <a:latin typeface="Arial"/>
              </a:defRPr>
            </a:pPr>
            <a:r>
              <a:t>By the end of today, you launch something real that you can use on Monday</a:t>
            </a:r>
          </a:p>
          <a:p>
            <a:pPr>
              <a:defRPr sz="2400">
                <a:solidFill>
                  <a:srgbClr val="FFFFFF"/>
                </a:solidFill>
                <a:latin typeface="Arial"/>
              </a:defRPr>
            </a:pPr>
            <a:r>
              <a:t>No code required — just clear thinking about who does what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B1120"/>
        </a:solidFill>
        <a:effectLst/>
      </p:bgPr>
    </p:bg>
    <p:spTree>
      <p:nvGrpSpPr>
        <p:cNvPr id="1" name=""/>
        <p:cNvGrpSpPr/>
        <p:nvPr/>
      </p:nvGrpSpPr>
      <p:grpSpPr/>
      <p:sp>
        <p:nvSpPr>
          <p:cNvPr id="2" name="Title 1"/>
          <p:cNvSpPr>
            <a:spLocks noGrp="1"/>
          </p:cNvSpPr>
          <p:nvPr>
            <p:ph type="title"/>
          </p:nvPr>
        </p:nvSpPr>
        <p:spPr/>
        <p:txBody>
          <a:bodyPr/>
          <a:lstStyle/>
          <a:p>
            <a:pPr>
              <a:defRPr sz="4000" b="1">
                <a:solidFill>
                  <a:srgbClr val="00E5FF"/>
                </a:solidFill>
                <a:latin typeface="Arial"/>
              </a:defRPr>
            </a:pPr>
            <a:r>
              <a:t>Why One Agent Is Not Enough</a:t>
            </a:r>
          </a:p>
        </p:txBody>
      </p:sp>
      <p:sp>
        <p:nvSpPr>
          <p:cNvPr id="3" name="Content Placeholder 2"/>
          <p:cNvSpPr>
            <a:spLocks noGrp="1"/>
          </p:cNvSpPr>
          <p:nvPr>
            <p:ph idx="1"/>
          </p:nvPr>
        </p:nvSpPr>
        <p:spPr/>
        <p:txBody>
          <a:bodyPr/>
          <a:lstStyle/>
          <a:p/>
          <a:p>
            <a:pPr>
              <a:defRPr sz="2400">
                <a:solidFill>
                  <a:srgbClr val="FFFFFF"/>
                </a:solidFill>
                <a:latin typeface="Arial"/>
              </a:defRPr>
            </a:pPr>
            <a:r>
              <a:t>A single agent asked to do everything becomes vague and mediocre</a:t>
            </a:r>
          </a:p>
          <a:p>
            <a:pPr>
              <a:defRPr sz="2400">
                <a:solidFill>
                  <a:srgbClr val="FFFFFF"/>
                </a:solidFill>
                <a:latin typeface="Arial"/>
              </a:defRPr>
            </a:pPr>
            <a:r>
              <a:t>Real work has stages: research, then draft, then review, then format</a:t>
            </a:r>
          </a:p>
          <a:p>
            <a:pPr>
              <a:defRPr sz="2400">
                <a:solidFill>
                  <a:srgbClr val="FFFFFF"/>
                </a:solidFill>
                <a:latin typeface="Arial"/>
              </a:defRPr>
            </a:pPr>
            <a:r>
              <a:t>Mixing stages in one prompt makes the AI average at all of them</a:t>
            </a:r>
          </a:p>
          <a:p>
            <a:pPr>
              <a:defRPr sz="2400">
                <a:solidFill>
                  <a:srgbClr val="FFFFFF"/>
                </a:solidFill>
                <a:latin typeface="Arial"/>
              </a:defRPr>
            </a:pPr>
            <a:r>
              <a:t>Specialists beat generalists — for humans and for agents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B1120"/>
        </a:solidFill>
        <a:effectLst/>
      </p:bgPr>
    </p:bg>
    <p:spTree>
      <p:nvGrpSpPr>
        <p:cNvPr id="1" name=""/>
        <p:cNvGrpSpPr/>
        <p:nvPr/>
      </p:nvGrpSpPr>
      <p:grpSpPr/>
      <p:sp>
        <p:nvSpPr>
          <p:cNvPr id="2" name="Title 1"/>
          <p:cNvSpPr>
            <a:spLocks noGrp="1"/>
          </p:cNvSpPr>
          <p:nvPr>
            <p:ph type="title"/>
          </p:nvPr>
        </p:nvSpPr>
        <p:spPr/>
        <p:txBody>
          <a:bodyPr/>
          <a:lstStyle/>
          <a:p>
            <a:pPr>
              <a:defRPr sz="4000" b="1">
                <a:solidFill>
                  <a:srgbClr val="00E5FF"/>
                </a:solidFill>
                <a:latin typeface="Arial"/>
              </a:defRPr>
            </a:pPr>
            <a:r>
              <a:t>The Anatomy of an AI Team</a:t>
            </a:r>
          </a:p>
        </p:txBody>
      </p:sp>
      <p:sp>
        <p:nvSpPr>
          <p:cNvPr id="3" name="Content Placeholder 2"/>
          <p:cNvSpPr>
            <a:spLocks noGrp="1"/>
          </p:cNvSpPr>
          <p:nvPr>
            <p:ph idx="1"/>
          </p:nvPr>
        </p:nvSpPr>
        <p:spPr/>
        <p:txBody>
          <a:bodyPr/>
          <a:lstStyle/>
          <a:p/>
          <a:p>
            <a:pPr>
              <a:defRPr sz="2400">
                <a:solidFill>
                  <a:srgbClr val="FFFFFF"/>
                </a:solidFill>
                <a:latin typeface="Arial"/>
              </a:defRPr>
            </a:pPr>
            <a:r>
              <a:t>The Manager: breaks the goal into tasks and decides the order</a:t>
            </a:r>
          </a:p>
          <a:p>
            <a:pPr>
              <a:defRPr sz="2400">
                <a:solidFill>
                  <a:srgbClr val="FFFFFF"/>
                </a:solidFill>
                <a:latin typeface="Arial"/>
              </a:defRPr>
            </a:pPr>
            <a:r>
              <a:t>The Specialists: each has one job, one set of instructions, one output</a:t>
            </a:r>
          </a:p>
          <a:p>
            <a:pPr>
              <a:defRPr sz="2400">
                <a:solidFill>
                  <a:srgbClr val="FFFFFF"/>
                </a:solidFill>
                <a:latin typeface="Arial"/>
              </a:defRPr>
            </a:pPr>
            <a:r>
              <a:t>The Reviewer: checks the work against your standards before it reaches you</a:t>
            </a:r>
          </a:p>
          <a:p>
            <a:pPr>
              <a:defRPr sz="2400">
                <a:solidFill>
                  <a:srgbClr val="FFFFFF"/>
                </a:solidFill>
                <a:latin typeface="Arial"/>
              </a:defRPr>
            </a:pPr>
            <a:r>
              <a:t>The Handoff: the output of one agent becomes the input of the next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B1120"/>
        </a:solidFill>
        <a:effectLst/>
      </p:bgPr>
    </p:bg>
    <p:spTree>
      <p:nvGrpSpPr>
        <p:cNvPr id="1" name=""/>
        <p:cNvGrpSpPr/>
        <p:nvPr/>
      </p:nvGrpSpPr>
      <p:grpSpPr/>
      <p:sp>
        <p:nvSpPr>
          <p:cNvPr id="2" name="Title 1"/>
          <p:cNvSpPr>
            <a:spLocks noGrp="1"/>
          </p:cNvSpPr>
          <p:nvPr>
            <p:ph type="title"/>
          </p:nvPr>
        </p:nvSpPr>
        <p:spPr/>
        <p:txBody>
          <a:bodyPr/>
          <a:lstStyle/>
          <a:p>
            <a:pPr>
              <a:defRPr sz="4000" b="1">
                <a:solidFill>
                  <a:srgbClr val="00E5FF"/>
                </a:solidFill>
                <a:latin typeface="Arial"/>
              </a:defRPr>
            </a:pPr>
            <a:r>
              <a:t>Three Team Shapes You Can Steal Today</a:t>
            </a:r>
          </a:p>
        </p:txBody>
      </p:sp>
      <p:sp>
        <p:nvSpPr>
          <p:cNvPr id="3" name="Content Placeholder 2"/>
          <p:cNvSpPr>
            <a:spLocks noGrp="1"/>
          </p:cNvSpPr>
          <p:nvPr>
            <p:ph idx="1"/>
          </p:nvPr>
        </p:nvSpPr>
        <p:spPr/>
        <p:txBody>
          <a:bodyPr/>
          <a:lstStyle/>
          <a:p/>
          <a:p>
            <a:pPr>
              <a:defRPr sz="2400">
                <a:solidFill>
                  <a:srgbClr val="FFFFFF"/>
                </a:solidFill>
                <a:latin typeface="Arial"/>
              </a:defRPr>
            </a:pPr>
            <a:r>
              <a:t>The Assembly Line: Research → Draft → Edit → Publish (best for content)</a:t>
            </a:r>
          </a:p>
          <a:p>
            <a:pPr>
              <a:defRPr sz="2400">
                <a:solidFill>
                  <a:srgbClr val="FFFFFF"/>
                </a:solidFill>
                <a:latin typeface="Arial"/>
              </a:defRPr>
            </a:pPr>
            <a:r>
              <a:t>The Panel: three agents give independent opinions, you or a judge agent decides</a:t>
            </a:r>
          </a:p>
          <a:p>
            <a:pPr>
              <a:defRPr sz="2400">
                <a:solidFill>
                  <a:srgbClr val="FFFFFF"/>
                </a:solidFill>
                <a:latin typeface="Arial"/>
              </a:defRPr>
            </a:pPr>
            <a:r>
              <a:t>The Inbox Triage: one agent sorts, then routes each item to the right specialist</a:t>
            </a:r>
          </a:p>
          <a:p>
            <a:pPr>
              <a:defRPr sz="2400">
                <a:solidFill>
                  <a:srgbClr val="FFFFFF"/>
                </a:solidFill>
                <a:latin typeface="Arial"/>
              </a:defRPr>
            </a:pPr>
            <a:r>
              <a:t>Pick the shape that matches how the work already flows in your role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B1120"/>
        </a:solidFill>
        <a:effectLst/>
      </p:bgPr>
    </p:bg>
    <p:spTree>
      <p:nvGrpSpPr>
        <p:cNvPr id="1" name=""/>
        <p:cNvGrpSpPr/>
        <p:nvPr/>
      </p:nvGrpSpPr>
      <p:grpSpPr/>
      <p:sp>
        <p:nvSpPr>
          <p:cNvPr id="2" name="Title 1"/>
          <p:cNvSpPr>
            <a:spLocks noGrp="1"/>
          </p:cNvSpPr>
          <p:nvPr>
            <p:ph type="title"/>
          </p:nvPr>
        </p:nvSpPr>
        <p:spPr/>
        <p:txBody>
          <a:bodyPr/>
          <a:lstStyle/>
          <a:p>
            <a:pPr>
              <a:defRPr sz="4000" b="1">
                <a:solidFill>
                  <a:srgbClr val="00E5FF"/>
                </a:solidFill>
                <a:latin typeface="Arial"/>
              </a:defRPr>
            </a:pPr>
            <a:r>
              <a:t>Where Teams Go Wrong (And How to Fix It)</a:t>
            </a:r>
          </a:p>
        </p:txBody>
      </p:sp>
      <p:sp>
        <p:nvSpPr>
          <p:cNvPr id="3" name="Content Placeholder 2"/>
          <p:cNvSpPr>
            <a:spLocks noGrp="1"/>
          </p:cNvSpPr>
          <p:nvPr>
            <p:ph idx="1"/>
          </p:nvPr>
        </p:nvSpPr>
        <p:spPr/>
        <p:txBody>
          <a:bodyPr/>
          <a:lstStyle/>
          <a:p/>
          <a:p>
            <a:pPr>
              <a:defRPr sz="2400">
                <a:solidFill>
                  <a:srgbClr val="FFFFFF"/>
                </a:solidFill>
                <a:latin typeface="Arial"/>
              </a:defRPr>
            </a:pPr>
            <a:r>
              <a:t>Vague handoffs — fix by defining the exact output format of each agent</a:t>
            </a:r>
          </a:p>
          <a:p>
            <a:pPr>
              <a:defRPr sz="2400">
                <a:solidFill>
                  <a:srgbClr val="FFFFFF"/>
                </a:solidFill>
                <a:latin typeface="Arial"/>
              </a:defRPr>
            </a:pPr>
            <a:r>
              <a:t>Runaway loops — fix by setting a limit: 'revise at most twice, then deliver'</a:t>
            </a:r>
          </a:p>
          <a:p>
            <a:pPr>
              <a:defRPr sz="2400">
                <a:solidFill>
                  <a:srgbClr val="FFFFFF"/>
                </a:solidFill>
                <a:latin typeface="Arial"/>
              </a:defRPr>
            </a:pPr>
            <a:r>
              <a:t>Silent errors — fix by keeping a human checkpoint before anything goes public</a:t>
            </a:r>
          </a:p>
          <a:p>
            <a:pPr>
              <a:defRPr sz="2400">
                <a:solidFill>
                  <a:srgbClr val="FFFFFF"/>
                </a:solidFill>
                <a:latin typeface="Arial"/>
              </a:defRPr>
            </a:pPr>
            <a:r>
              <a:t>Over-engineering — if two agents do the job, do not build five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B1120"/>
        </a:solidFill>
        <a:effectLst/>
      </p:bgPr>
    </p:bg>
    <p:spTree>
      <p:nvGrpSpPr>
        <p:cNvPr id="1" name=""/>
        <p:cNvGrpSpPr/>
        <p:nvPr/>
      </p:nvGrpSpPr>
      <p:grpSpPr/>
      <p:sp>
        <p:nvSpPr>
          <p:cNvPr id="2" name="Title 1"/>
          <p:cNvSpPr>
            <a:spLocks noGrp="1"/>
          </p:cNvSpPr>
          <p:nvPr>
            <p:ph type="title"/>
          </p:nvPr>
        </p:nvSpPr>
        <p:spPr/>
        <p:txBody>
          <a:bodyPr/>
          <a:lstStyle/>
          <a:p>
            <a:pPr>
              <a:defRPr sz="4000" b="1">
                <a:solidFill>
                  <a:srgbClr val="00E5FF"/>
                </a:solidFill>
                <a:latin typeface="Arial"/>
              </a:defRPr>
            </a:pPr>
            <a:r>
              <a:t>Build Sprint: Your First Agent Team</a:t>
            </a:r>
          </a:p>
        </p:txBody>
      </p:sp>
      <p:sp>
        <p:nvSpPr>
          <p:cNvPr id="3" name="Content Placeholder 2"/>
          <p:cNvSpPr>
            <a:spLocks noGrp="1"/>
          </p:cNvSpPr>
          <p:nvPr>
            <p:ph idx="1"/>
          </p:nvPr>
        </p:nvSpPr>
        <p:spPr/>
        <p:txBody>
          <a:bodyPr/>
          <a:lstStyle/>
          <a:p/>
          <a:p>
            <a:pPr>
              <a:defRPr sz="2400">
                <a:solidFill>
                  <a:srgbClr val="FFFFFF"/>
                </a:solidFill>
                <a:latin typeface="Arial"/>
              </a:defRPr>
            </a:pPr>
            <a:r>
              <a:t>Step 1: Write the goal in one sentence — what lands on your desk at the end?</a:t>
            </a:r>
          </a:p>
          <a:p>
            <a:pPr>
              <a:defRPr sz="2400">
                <a:solidFill>
                  <a:srgbClr val="FFFFFF"/>
                </a:solidFill>
                <a:latin typeface="Arial"/>
              </a:defRPr>
            </a:pPr>
            <a:r>
              <a:t>Step 2: List the stages, then give each stage one agent and one instruction</a:t>
            </a:r>
          </a:p>
          <a:p>
            <a:pPr>
              <a:defRPr sz="2400">
                <a:solidFill>
                  <a:srgbClr val="FFFFFF"/>
                </a:solidFill>
                <a:latin typeface="Arial"/>
              </a:defRPr>
            </a:pPr>
            <a:r>
              <a:t>Step 3: Define each handoff — what exactly gets passed forward?</a:t>
            </a:r>
          </a:p>
          <a:p>
            <a:pPr>
              <a:defRPr sz="2400">
                <a:solidFill>
                  <a:srgbClr val="FFFFFF"/>
                </a:solidFill>
                <a:latin typeface="Arial"/>
              </a:defRPr>
            </a:pPr>
            <a:r>
              <a:t>Step 4: Run it on a real task from your actual job, not a made-up one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B1120"/>
        </a:solidFill>
        <a:effectLst/>
      </p:bgPr>
    </p:bg>
    <p:spTree>
      <p:nvGrpSpPr>
        <p:cNvPr id="1" name=""/>
        <p:cNvGrpSpPr/>
        <p:nvPr/>
      </p:nvGrpSpPr>
      <p:grpSpPr/>
      <p:sp>
        <p:nvSpPr>
          <p:cNvPr id="2" name="Title 1"/>
          <p:cNvSpPr>
            <a:spLocks noGrp="1"/>
          </p:cNvSpPr>
          <p:nvPr>
            <p:ph type="title"/>
          </p:nvPr>
        </p:nvSpPr>
        <p:spPr/>
        <p:txBody>
          <a:bodyPr/>
          <a:lstStyle/>
          <a:p>
            <a:pPr>
              <a:defRPr sz="4000" b="1">
                <a:solidFill>
                  <a:srgbClr val="00E5FF"/>
                </a:solidFill>
                <a:latin typeface="Arial"/>
              </a:defRPr>
            </a:pPr>
            <a:r>
              <a:t>Launch: Putting It to Work on Monday</a:t>
            </a:r>
          </a:p>
        </p:txBody>
      </p:sp>
      <p:sp>
        <p:nvSpPr>
          <p:cNvPr id="3" name="Content Placeholder 2"/>
          <p:cNvSpPr>
            <a:spLocks noGrp="1"/>
          </p:cNvSpPr>
          <p:nvPr>
            <p:ph idx="1"/>
          </p:nvPr>
        </p:nvSpPr>
        <p:spPr/>
        <p:txBody>
          <a:bodyPr/>
          <a:lstStyle/>
          <a:p/>
          <a:p>
            <a:pPr>
              <a:defRPr sz="2400">
                <a:solidFill>
                  <a:srgbClr val="FFFFFF"/>
                </a:solidFill>
                <a:latin typeface="Arial"/>
              </a:defRPr>
            </a:pPr>
            <a:r>
              <a:t>Pick your one workflow and commit to running it every week for four weeks</a:t>
            </a:r>
          </a:p>
          <a:p>
            <a:pPr>
              <a:defRPr sz="2400">
                <a:solidFill>
                  <a:srgbClr val="FFFFFF"/>
                </a:solidFill>
                <a:latin typeface="Arial"/>
              </a:defRPr>
            </a:pPr>
            <a:r>
              <a:t>Track two numbers: hours saved and quality of output (be honest)</a:t>
            </a:r>
          </a:p>
          <a:p>
            <a:pPr>
              <a:defRPr sz="2400">
                <a:solidFill>
                  <a:srgbClr val="FFFFFF"/>
                </a:solidFill>
                <a:latin typeface="Arial"/>
              </a:defRPr>
            </a:pPr>
            <a:r>
              <a:t>Show one colleague what you built — teaching is how you keep the skill</a:t>
            </a:r>
          </a:p>
          <a:p>
            <a:pPr>
              <a:defRPr sz="2400">
                <a:solidFill>
                  <a:srgbClr val="FFFFFF"/>
                </a:solidFill>
                <a:latin typeface="Arial"/>
              </a:defRPr>
            </a:pPr>
            <a:r>
              <a:t>Improve it once a week; do not rebuild it from scratch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B1120"/>
        </a:solidFill>
        <a:effectLst/>
      </p:bgPr>
    </p:bg>
    <p:spTree>
      <p:nvGrpSpPr>
        <p:cNvPr id="1" name=""/>
        <p:cNvGrpSpPr/>
        <p:nvPr/>
      </p:nvGrpSpPr>
      <p:grpSpPr/>
      <p:sp>
        <p:nvSpPr>
          <p:cNvPr id="2" name="Title 1"/>
          <p:cNvSpPr>
            <a:spLocks noGrp="1"/>
          </p:cNvSpPr>
          <p:nvPr>
            <p:ph type="title"/>
          </p:nvPr>
        </p:nvSpPr>
        <p:spPr/>
        <p:txBody>
          <a:bodyPr/>
          <a:lstStyle/>
          <a:p>
            <a:pPr>
              <a:defRPr sz="4000" b="1">
                <a:solidFill>
                  <a:srgbClr val="00E5FF"/>
                </a:solidFill>
                <a:latin typeface="Arial"/>
              </a:defRPr>
            </a:pPr>
            <a:r>
              <a:t>You Are Now the Person Who Builds the Systems</a:t>
            </a:r>
          </a:p>
        </p:txBody>
      </p:sp>
      <p:sp>
        <p:nvSpPr>
          <p:cNvPr id="3" name="Content Placeholder 2"/>
          <p:cNvSpPr>
            <a:spLocks noGrp="1"/>
          </p:cNvSpPr>
          <p:nvPr>
            <p:ph idx="1"/>
          </p:nvPr>
        </p:nvSpPr>
        <p:spPr/>
        <p:txBody>
          <a:bodyPr/>
          <a:lstStyle/>
          <a:p/>
          <a:p>
            <a:pPr>
              <a:defRPr sz="2400">
                <a:solidFill>
                  <a:srgbClr val="FFFFFF"/>
                </a:solidFill>
                <a:latin typeface="Arial"/>
              </a:defRPr>
            </a:pPr>
            <a:r>
              <a:t>Day 1 you wrote prompts. Day 5 you designed a working AI team</a:t>
            </a:r>
          </a:p>
          <a:p>
            <a:pPr>
              <a:defRPr sz="2400">
                <a:solidFill>
                  <a:srgbClr val="FFFFFF"/>
                </a:solidFill>
                <a:latin typeface="Arial"/>
              </a:defRPr>
            </a:pPr>
            <a:r>
              <a:t>You are not competing with AI — you are the one who directs it</a:t>
            </a:r>
          </a:p>
          <a:p>
            <a:pPr>
              <a:defRPr sz="2400">
                <a:solidFill>
                  <a:srgbClr val="FFFFFF"/>
                </a:solidFill>
                <a:latin typeface="Arial"/>
              </a:defRPr>
            </a:pPr>
            <a:r>
              <a:t>Your advantage is judgement: knowing what good looks like</a:t>
            </a:r>
          </a:p>
          <a:p>
            <a:pPr>
              <a:defRPr sz="2400">
                <a:solidFill>
                  <a:srgbClr val="FFFFFF"/>
                </a:solidFill>
                <a:latin typeface="Arial"/>
              </a:defRPr>
            </a:pPr>
            <a:r>
              <a:t>Stay in the community, share your builds, and come back to teach</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