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Say: 'Days 1 to 3 were about power — getting your Second Brain to capture and recall information fast. Today is about responsibility. A brilliant assistant who occasionally makes things up with total confidence is dangerous, not helpful.' Reassure them: this is not a technical day about code, it's about judgement and simple habits. Ask the room: 'Has anyone here already caught the AI giving you a wrong answer this week?' Let two or three people share — those stories become the fuel for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Normalise the failures — do not scare people. Say: 'These are not bugs you broke. They are the known behaviour of every AI system on earth, including the expensive ones.' Explain hallucination simply: the model is a very talented pattern-completer, so when it doesn't know, it completes the pattern anyway — that's why fake statistics and fake references appear. Give a Nigerian-flavoured example: asking for the current price of a service, or a CAC regulation, and getting a plausible but outdated answer. Emphasise the last bullet: 'If your Second Brain is full of half-finished notes, no amount of clever prompting will save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mindset shift of the day. Many people either trust AI blindly or refuse to use it at all — both are wasteful. Introduce the Trust Ladder as a way to spend your attention where it matters. Walk through a concrete example: 'Using AI to brainstorm twenty content ideas — rung 1, who cares if five are bad. Using AI to quote a tax figure to a client — rung 3, you verify at the source, full stop.' Invite participants to name one task from their own work at each rung. Land the line: 'Speed is for rung one. Care is for rung three. Confusing the two is how people get embarrassed.'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grounding in plain language: 'You are telling the assistant to stop being a know-it-all and start being a researcher who cites the file.' Demonstrate live if possible — ask a question with grounding instructions, then ask the same question without them, and show the difference in the output. Highlight the permission to say 'I don't know': models are eager to please, so you must explicitly give them an exit. Tell them: 'When you demand a quote, you get one of two good outcomes — either a verified answer, or a visible gap in your knowledge base that you now know to fill.'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the cheapest quality upgrade available. Say: 'In a good newsroom, the writer is never the only editor. You can build the same discipline into your Second Brain for free.' Show the Critic prompt on screen and let participants copy it. Explain why a fresh conversation matters: within the same thread the model is biased toward defending what it already said. Encourage them to save the Critic prompt as a reusable snippet — this is the beginning of a personal QA toolkit. Optional exercise: participants run yesterday's best output through a Critic pass and share what it caught.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it back to what they built on Days 2 and 3. Say: 'Everything we've discussed so far is downstream. The real fix is upstream.' Explain the simple tagging habit — thirty seconds at capture time saves an hour of doubt later. Spend real time on the privacy bullet: give practical guidance on what should never be pasted into a public chatbot — client contracts, BVN or NIN numbers, staff salary records, unreleased financials. Suggest a redaction habit: replace names with Client A, Client B. Close with: 'Your Second Brain will only ever be as honest as the things you feed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takeaway artefact of the day — tell them to screenshot it or write it down now. Walk through it once at speed, then apply it live to a real piece of work from a volunteer in the room. Emphasise question six as the human backstop: 'The AI does not carry your reputation. You do. That is why the last check will always be a person.' Reassure them this takes about ninety seconds once it becomes a habit, and it is the difference between an amateur and a professional operator.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energy and action. Set the exercise clearly and give a real timebox; walk the room while they work. The 'deliberately break it' task is the most valuable — celebrate anyone whose system correctly said 'I don't know', and help anyone whose system confidently invented an answer to add stronger grounding instructions. Close the day with the key message: 'Guardrails do not slow you down — they are what allow you to move fast without fear. Now that you can trust your Second Brain, tomorrow we make it run on autopilot.' Thank them and remind them to bring their Prompt Library to Day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ctrTitle"/>
          </p:nvPr>
        </p:nvSpPr>
        <p:spPr/>
        <p:txBody>
          <a:bodyPr/>
          <a:lstStyle/>
          <a:p>
            <a:pPr>
              <a:defRPr sz="4000" b="1">
                <a:solidFill>
                  <a:srgbClr val="00E5FF"/>
                </a:solidFill>
                <a:latin typeface="Arial"/>
              </a:defRPr>
            </a:pPr>
            <a:r>
              <a:t>Day 4: Quality Control &amp; Guardrails</a:t>
            </a:r>
          </a:p>
        </p:txBody>
      </p:sp>
      <p:sp>
        <p:nvSpPr>
          <p:cNvPr id="3" name="Subtitle 2"/>
          <p:cNvSpPr>
            <a:spLocks noGrp="1"/>
          </p:cNvSpPr>
          <p:nvPr>
            <p:ph type="subTitle" idx="1"/>
          </p:nvPr>
        </p:nvSpPr>
        <p:spPr/>
        <p:txBody>
          <a:bodyPr/>
          <a:lstStyle/>
          <a:p>
            <a:pPr>
              <a:defRPr sz="2400">
                <a:solidFill>
                  <a:srgbClr val="FFFFFF"/>
                </a:solidFill>
              </a:defRPr>
            </a:pPr>
            <a:r>
              <a:t>AgenticLabs.ng AI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Day 4: Quality Control &amp; Guardrails</a:t>
            </a:r>
          </a:p>
        </p:txBody>
      </p:sp>
      <p:sp>
        <p:nvSpPr>
          <p:cNvPr id="3" name="Content Placeholder 2"/>
          <p:cNvSpPr>
            <a:spLocks noGrp="1"/>
          </p:cNvSpPr>
          <p:nvPr>
            <p:ph idx="1"/>
          </p:nvPr>
        </p:nvSpPr>
        <p:spPr/>
        <p:txBody>
          <a:bodyPr/>
          <a:lstStyle/>
          <a:p/>
          <a:p>
            <a:pPr>
              <a:defRPr sz="2400">
                <a:solidFill>
                  <a:srgbClr val="FFFFFF"/>
                </a:solidFill>
                <a:latin typeface="Arial"/>
              </a:defRPr>
            </a:pPr>
            <a:r>
              <a:t>Welcome back — you've already built a Second Brain that captures, organises and retrieves your knowledge</a:t>
            </a:r>
          </a:p>
          <a:p>
            <a:pPr>
              <a:defRPr sz="2400">
                <a:solidFill>
                  <a:srgbClr val="FFFFFF"/>
                </a:solidFill>
                <a:latin typeface="Arial"/>
              </a:defRPr>
            </a:pPr>
            <a:r>
              <a:t>Today we answer the big question: 'Can I actually trust what it tells me?'</a:t>
            </a:r>
          </a:p>
          <a:p>
            <a:pPr>
              <a:defRPr sz="2400">
                <a:solidFill>
                  <a:srgbClr val="FFFFFF"/>
                </a:solidFill>
                <a:latin typeface="Arial"/>
              </a:defRPr>
            </a:pPr>
            <a:r>
              <a:t>Trust is not a feeling — it's a system you design on purpose</a:t>
            </a:r>
          </a:p>
          <a:p>
            <a:pPr>
              <a:defRPr sz="2400">
                <a:solidFill>
                  <a:srgbClr val="FFFFFF"/>
                </a:solidFill>
                <a:latin typeface="Arial"/>
              </a:defRPr>
            </a:pPr>
            <a:r>
              <a:t>By the end of today you'll have a personal QA checklist your AI must pass before you act on anything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Why Smart Systems Still Get It Wrong</a:t>
            </a:r>
          </a:p>
        </p:txBody>
      </p:sp>
      <p:sp>
        <p:nvSpPr>
          <p:cNvPr id="3" name="Content Placeholder 2"/>
          <p:cNvSpPr>
            <a:spLocks noGrp="1"/>
          </p:cNvSpPr>
          <p:nvPr>
            <p:ph idx="1"/>
          </p:nvPr>
        </p:nvSpPr>
        <p:spPr/>
        <p:txBody>
          <a:bodyPr/>
          <a:lstStyle/>
          <a:p/>
          <a:p>
            <a:pPr>
              <a:defRPr sz="2400">
                <a:solidFill>
                  <a:srgbClr val="FFFFFF"/>
                </a:solidFill>
                <a:latin typeface="Arial"/>
              </a:defRPr>
            </a:pPr>
            <a:r>
              <a:t>Hallucination: the AI invents a fact, a citation or a link that simply does not exist</a:t>
            </a:r>
          </a:p>
          <a:p>
            <a:pPr>
              <a:defRPr sz="2400">
                <a:solidFill>
                  <a:srgbClr val="FFFFFF"/>
                </a:solidFill>
                <a:latin typeface="Arial"/>
              </a:defRPr>
            </a:pPr>
            <a:r>
              <a:t>Stale knowledge: it answers from an old document you forgot to update</a:t>
            </a:r>
          </a:p>
          <a:p>
            <a:pPr>
              <a:defRPr sz="2400">
                <a:solidFill>
                  <a:srgbClr val="FFFFFF"/>
                </a:solidFill>
                <a:latin typeface="Arial"/>
              </a:defRPr>
            </a:pPr>
            <a:r>
              <a:t>Wrong retrieval: it grabs the right-looking note but the wrong context</a:t>
            </a:r>
          </a:p>
          <a:p>
            <a:pPr>
              <a:defRPr sz="2400">
                <a:solidFill>
                  <a:srgbClr val="FFFFFF"/>
                </a:solidFill>
                <a:latin typeface="Arial"/>
              </a:defRPr>
            </a:pPr>
            <a:r>
              <a:t>Confident tone: the AI never says 'I'm 60% sure' — it always sounds certain</a:t>
            </a:r>
          </a:p>
          <a:p>
            <a:pPr>
              <a:defRPr sz="2400">
                <a:solidFill>
                  <a:srgbClr val="FFFFFF"/>
                </a:solidFill>
                <a:latin typeface="Arial"/>
              </a:defRPr>
            </a:pPr>
            <a:r>
              <a:t>Garbage in, garbage out: messy notes produce messy answers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The Trust Ladder: Not Every Task Needs the Same Rigour</a:t>
            </a:r>
          </a:p>
        </p:txBody>
      </p:sp>
      <p:sp>
        <p:nvSpPr>
          <p:cNvPr id="3" name="Content Placeholder 2"/>
          <p:cNvSpPr>
            <a:spLocks noGrp="1"/>
          </p:cNvSpPr>
          <p:nvPr>
            <p:ph idx="1"/>
          </p:nvPr>
        </p:nvSpPr>
        <p:spPr/>
        <p:txBody>
          <a:bodyPr/>
          <a:lstStyle/>
          <a:p/>
          <a:p>
            <a:pPr>
              <a:defRPr sz="2400">
                <a:solidFill>
                  <a:srgbClr val="FFFFFF"/>
                </a:solidFill>
                <a:latin typeface="Arial"/>
              </a:defRPr>
            </a:pPr>
            <a:r>
              <a:t>Rung 1 — Low stakes: brainstorming, first drafts, summarising your own notes. Move fast, verify lightly</a:t>
            </a:r>
          </a:p>
          <a:p>
            <a:pPr>
              <a:defRPr sz="2400">
                <a:solidFill>
                  <a:srgbClr val="FFFFFF"/>
                </a:solidFill>
                <a:latin typeface="Arial"/>
              </a:defRPr>
            </a:pPr>
            <a:r>
              <a:t>Rung 2 — Medium stakes: client emails, internal reports, social posts. One human read-through required</a:t>
            </a:r>
          </a:p>
          <a:p>
            <a:pPr>
              <a:defRPr sz="2400">
                <a:solidFill>
                  <a:srgbClr val="FFFFFF"/>
                </a:solidFill>
                <a:latin typeface="Arial"/>
              </a:defRPr>
            </a:pPr>
            <a:r>
              <a:t>Rung 3 — High stakes: money, legal, medical, public claims, anything with your name on it. Verify every single fact at source</a:t>
            </a:r>
          </a:p>
          <a:p>
            <a:pPr>
              <a:defRPr sz="2400">
                <a:solidFill>
                  <a:srgbClr val="FFFFFF"/>
                </a:solidFill>
                <a:latin typeface="Arial"/>
              </a:defRPr>
            </a:pPr>
            <a:r>
              <a:t>Ask before every task: 'What happens if this is wrong?'</a:t>
            </a:r>
          </a:p>
          <a:p>
            <a:pPr>
              <a:defRPr sz="2400">
                <a:solidFill>
                  <a:srgbClr val="FFFFFF"/>
                </a:solidFill>
                <a:latin typeface="Arial"/>
              </a:defRPr>
            </a:pPr>
            <a:r>
              <a:t>Match your checking effort to the cost of being wrong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Guardrail #1: Ground the Answer in Your Own Sources</a:t>
            </a:r>
          </a:p>
        </p:txBody>
      </p:sp>
      <p:sp>
        <p:nvSpPr>
          <p:cNvPr id="3" name="Content Placeholder 2"/>
          <p:cNvSpPr>
            <a:spLocks noGrp="1"/>
          </p:cNvSpPr>
          <p:nvPr>
            <p:ph idx="1"/>
          </p:nvPr>
        </p:nvSpPr>
        <p:spPr/>
        <p:txBody>
          <a:bodyPr/>
          <a:lstStyle/>
          <a:p/>
          <a:p>
            <a:pPr>
              <a:defRPr sz="2400">
                <a:solidFill>
                  <a:srgbClr val="FFFFFF"/>
                </a:solidFill>
                <a:latin typeface="Arial"/>
              </a:defRPr>
            </a:pPr>
            <a:r>
              <a:t>Instruct the AI: 'Answer ONLY using the documents I provided'</a:t>
            </a:r>
          </a:p>
          <a:p>
            <a:pPr>
              <a:defRPr sz="2400">
                <a:solidFill>
                  <a:srgbClr val="FFFFFF"/>
                </a:solidFill>
                <a:latin typeface="Arial"/>
              </a:defRPr>
            </a:pPr>
            <a:r>
              <a:t>Add: 'If the answer is not in the sources, say I don't know'</a:t>
            </a:r>
          </a:p>
          <a:p>
            <a:pPr>
              <a:defRPr sz="2400">
                <a:solidFill>
                  <a:srgbClr val="FFFFFF"/>
                </a:solidFill>
                <a:latin typeface="Arial"/>
              </a:defRPr>
            </a:pPr>
            <a:r>
              <a:t>Demand receipts: 'Quote the exact line and name the file you used'</a:t>
            </a:r>
          </a:p>
          <a:p>
            <a:pPr>
              <a:defRPr sz="2400">
                <a:solidFill>
                  <a:srgbClr val="FFFFFF"/>
                </a:solidFill>
                <a:latin typeface="Arial"/>
              </a:defRPr>
            </a:pPr>
            <a:r>
              <a:t>No quote, no trust — an unsourced claim is just a rumour</a:t>
            </a:r>
          </a:p>
          <a:p>
            <a:pPr>
              <a:defRPr sz="2400">
                <a:solidFill>
                  <a:srgbClr val="FFFFFF"/>
                </a:solidFill>
                <a:latin typeface="Arial"/>
              </a:defRPr>
            </a:pPr>
            <a:r>
              <a:t>This one habit removes the majority of hallucinations in a Second Brain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Guardrail #2: The Second Pair of Eyes</a:t>
            </a:r>
          </a:p>
        </p:txBody>
      </p:sp>
      <p:sp>
        <p:nvSpPr>
          <p:cNvPr id="3" name="Content Placeholder 2"/>
          <p:cNvSpPr>
            <a:spLocks noGrp="1"/>
          </p:cNvSpPr>
          <p:nvPr>
            <p:ph idx="1"/>
          </p:nvPr>
        </p:nvSpPr>
        <p:spPr/>
        <p:txBody>
          <a:bodyPr/>
          <a:lstStyle/>
          <a:p/>
          <a:p>
            <a:pPr>
              <a:defRPr sz="2400">
                <a:solidFill>
                  <a:srgbClr val="FFFFFF"/>
                </a:solidFill>
                <a:latin typeface="Arial"/>
              </a:defRPr>
            </a:pPr>
            <a:r>
              <a:t>Run a Critic pass: 'Review this answer. List every claim that is unsupported or risky'</a:t>
            </a:r>
          </a:p>
          <a:p>
            <a:pPr>
              <a:defRPr sz="2400">
                <a:solidFill>
                  <a:srgbClr val="FFFFFF"/>
                </a:solidFill>
                <a:latin typeface="Arial"/>
              </a:defRPr>
            </a:pPr>
            <a:r>
              <a:t>Ask for a confidence rating on each key claim, with reasons</a:t>
            </a:r>
          </a:p>
          <a:p>
            <a:pPr>
              <a:defRPr sz="2400">
                <a:solidFill>
                  <a:srgbClr val="FFFFFF"/>
                </a:solidFill>
                <a:latin typeface="Arial"/>
              </a:defRPr>
            </a:pPr>
            <a:r>
              <a:t>Force alternatives: 'What is a different interpretation of this data?'</a:t>
            </a:r>
          </a:p>
          <a:p>
            <a:pPr>
              <a:defRPr sz="2400">
                <a:solidFill>
                  <a:srgbClr val="FFFFFF"/>
                </a:solidFill>
                <a:latin typeface="Arial"/>
              </a:defRPr>
            </a:pPr>
            <a:r>
              <a:t>Separate the roles — one prompt to create, a fresh prompt to challenge</a:t>
            </a:r>
          </a:p>
          <a:p>
            <a:pPr>
              <a:defRPr sz="2400">
                <a:solidFill>
                  <a:srgbClr val="FFFFFF"/>
                </a:solidFill>
                <a:latin typeface="Arial"/>
              </a:defRPr>
            </a:pPr>
            <a:r>
              <a:t>Never let the same output grade its own homework in the same breath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Guardrail #3: Guard the Input, Not Just the Output</a:t>
            </a:r>
          </a:p>
        </p:txBody>
      </p:sp>
      <p:sp>
        <p:nvSpPr>
          <p:cNvPr id="3" name="Content Placeholder 2"/>
          <p:cNvSpPr>
            <a:spLocks noGrp="1"/>
          </p:cNvSpPr>
          <p:nvPr>
            <p:ph idx="1"/>
          </p:nvPr>
        </p:nvSpPr>
        <p:spPr/>
        <p:txBody>
          <a:bodyPr/>
          <a:lstStyle/>
          <a:p/>
          <a:p>
            <a:pPr>
              <a:defRPr sz="2400">
                <a:solidFill>
                  <a:srgbClr val="FFFFFF"/>
                </a:solidFill>
                <a:latin typeface="Arial"/>
              </a:defRPr>
            </a:pPr>
            <a:r>
              <a:t>Quality control starts at capture — date-stamp and label every note with its source</a:t>
            </a:r>
          </a:p>
          <a:p>
            <a:pPr>
              <a:defRPr sz="2400">
                <a:solidFill>
                  <a:srgbClr val="FFFFFF"/>
                </a:solidFill>
                <a:latin typeface="Arial"/>
              </a:defRPr>
            </a:pPr>
            <a:r>
              <a:t>Mark each item: Verified fact / My opinion / Unconfirmed / Needs update</a:t>
            </a:r>
          </a:p>
          <a:p>
            <a:pPr>
              <a:defRPr sz="2400">
                <a:solidFill>
                  <a:srgbClr val="FFFFFF"/>
                </a:solidFill>
                <a:latin typeface="Arial"/>
              </a:defRPr>
            </a:pPr>
            <a:r>
              <a:t>Archive or delete outdated documents — old files are silent liars</a:t>
            </a:r>
          </a:p>
          <a:p>
            <a:pPr>
              <a:defRPr sz="2400">
                <a:solidFill>
                  <a:srgbClr val="FFFFFF"/>
                </a:solidFill>
                <a:latin typeface="Arial"/>
              </a:defRPr>
            </a:pPr>
            <a:r>
              <a:t>Never paste confidential client data, passwords, or personal ID numbers into a public tool</a:t>
            </a:r>
          </a:p>
          <a:p>
            <a:pPr>
              <a:defRPr sz="2400">
                <a:solidFill>
                  <a:srgbClr val="FFFFFF"/>
                </a:solidFill>
                <a:latin typeface="Arial"/>
              </a:defRPr>
            </a:pPr>
            <a:r>
              <a:t>A tidy Second Brain is a trustworthy Second Brain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Your Personal QA Checklist</a:t>
            </a:r>
          </a:p>
        </p:txBody>
      </p:sp>
      <p:sp>
        <p:nvSpPr>
          <p:cNvPr id="3" name="Content Placeholder 2"/>
          <p:cNvSpPr>
            <a:spLocks noGrp="1"/>
          </p:cNvSpPr>
          <p:nvPr>
            <p:ph idx="1"/>
          </p:nvPr>
        </p:nvSpPr>
        <p:spPr/>
        <p:txBody>
          <a:bodyPr/>
          <a:lstStyle/>
          <a:p/>
          <a:p>
            <a:pPr>
              <a:defRPr sz="2400">
                <a:solidFill>
                  <a:srgbClr val="FFFFFF"/>
                </a:solidFill>
                <a:latin typeface="Arial"/>
              </a:defRPr>
            </a:pPr>
            <a:r>
              <a:t>1. What rung of the Trust Ladder is this task on?</a:t>
            </a:r>
          </a:p>
          <a:p>
            <a:pPr>
              <a:defRPr sz="2400">
                <a:solidFill>
                  <a:srgbClr val="FFFFFF"/>
                </a:solidFill>
                <a:latin typeface="Arial"/>
              </a:defRPr>
            </a:pPr>
            <a:r>
              <a:t>2. Did I ground the request in my own sources?</a:t>
            </a:r>
          </a:p>
          <a:p>
            <a:pPr>
              <a:defRPr sz="2400">
                <a:solidFill>
                  <a:srgbClr val="FFFFFF"/>
                </a:solidFill>
                <a:latin typeface="Arial"/>
              </a:defRPr>
            </a:pPr>
            <a:r>
              <a:t>3. Can I see a quote and a filename for every key claim?</a:t>
            </a:r>
          </a:p>
          <a:p>
            <a:pPr>
              <a:defRPr sz="2400">
                <a:solidFill>
                  <a:srgbClr val="FFFFFF"/>
                </a:solidFill>
                <a:latin typeface="Arial"/>
              </a:defRPr>
            </a:pPr>
            <a:r>
              <a:t>4. Did I run a Critic pass on anything above rung one?</a:t>
            </a:r>
          </a:p>
          <a:p>
            <a:pPr>
              <a:defRPr sz="2400">
                <a:solidFill>
                  <a:srgbClr val="FFFFFF"/>
                </a:solidFill>
                <a:latin typeface="Arial"/>
              </a:defRPr>
            </a:pPr>
            <a:r>
              <a:t>5. Have I checked dates, numbers, names and links at the source?</a:t>
            </a:r>
          </a:p>
          <a:p>
            <a:pPr>
              <a:defRPr sz="2400">
                <a:solidFill>
                  <a:srgbClr val="FFFFFF"/>
                </a:solidFill>
                <a:latin typeface="Arial"/>
              </a:defRPr>
            </a:pPr>
            <a:r>
              <a:t>6. Am I comfortable putting my name on this? If not, it's not finished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Practice Now &amp; Look Ahead to Day 5</a:t>
            </a:r>
          </a:p>
        </p:txBody>
      </p:sp>
      <p:sp>
        <p:nvSpPr>
          <p:cNvPr id="3" name="Content Placeholder 2"/>
          <p:cNvSpPr>
            <a:spLocks noGrp="1"/>
          </p:cNvSpPr>
          <p:nvPr>
            <p:ph idx="1"/>
          </p:nvPr>
        </p:nvSpPr>
        <p:spPr/>
        <p:txBody>
          <a:bodyPr/>
          <a:lstStyle/>
          <a:p/>
          <a:p>
            <a:pPr>
              <a:defRPr sz="2400">
                <a:solidFill>
                  <a:srgbClr val="FFFFFF"/>
                </a:solidFill>
                <a:latin typeface="Arial"/>
              </a:defRPr>
            </a:pPr>
            <a:r>
              <a:t>Exercise (20 mins): take one real output from Day 3 and run the full checklist on it</a:t>
            </a:r>
          </a:p>
          <a:p>
            <a:pPr>
              <a:defRPr sz="2400">
                <a:solidFill>
                  <a:srgbClr val="FFFFFF"/>
                </a:solidFill>
                <a:latin typeface="Arial"/>
              </a:defRPr>
            </a:pPr>
            <a:r>
              <a:t>Deliberately break it — ask your Second Brain a question it cannot answer, and see if it admits it</a:t>
            </a:r>
          </a:p>
          <a:p>
            <a:pPr>
              <a:defRPr sz="2400">
                <a:solidFill>
                  <a:srgbClr val="FFFFFF"/>
                </a:solidFill>
                <a:latin typeface="Arial"/>
              </a:defRPr>
            </a:pPr>
            <a:r>
              <a:t>Fix one weak spot in your notes: add a source, a date, or a status tag</a:t>
            </a:r>
          </a:p>
          <a:p>
            <a:pPr>
              <a:defRPr sz="2400">
                <a:solidFill>
                  <a:srgbClr val="FFFFFF"/>
                </a:solidFill>
                <a:latin typeface="Arial"/>
              </a:defRPr>
            </a:pPr>
            <a:r>
              <a:t>Save your Grounding prompt and your Critic prompt into a reusable Prompt Library</a:t>
            </a:r>
          </a:p>
          <a:p>
            <a:pPr>
              <a:defRPr sz="2400">
                <a:solidFill>
                  <a:srgbClr val="FFFFFF"/>
                </a:solidFill>
                <a:latin typeface="Arial"/>
              </a:defRPr>
            </a:pPr>
            <a:r>
              <a:t>Tomorrow on Day 5: putting it all together — your automated, reliable Second Brain workflow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