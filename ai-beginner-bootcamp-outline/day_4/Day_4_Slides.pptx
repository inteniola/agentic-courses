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Give yourselves a hand — you've made it to Day 4. Let me start with a story. An intern joins your office. They type at 200 words per minute, they've read half the internet, they never get tired, and they never say 'I don't know.' That last part is the problem. That intern is your AI. Today is not about typing better prompts. Today is about becoming the person who catches mistakes before your boss, your client, or the public does. This is the day that separates people who *play* with AI from people who can safely *deploy* it at work. Encourage them: this is the most career-protecting session of the week.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demystify this. The AI is not lying to you — lying requires knowing the truth. The AI is completing a pattern. If your sentence looks like it should end with a statistic, it will produce something that looks exactly like a statistic. Real examples to mention: lawyers abroad have been sanctioned for filing court documents with AI-invented cases. Ask the room: 'Who here has caught the AI making something up?' Let two or three people share — this builds the room's collective radar. Key line to land: 'The AI is not wrong loudly. It is wrong beautifully. That's what makes it dangerous.'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them a mental checklist they can carry forever. Walk through each with a quick example. FACTUAL: 'The 2023 Data Protection Act says...' — did it? Check. CONTEXT: an HR policy that references 'at-will employment' — that's American, Nigerian labour law is different. TONE: words like 'delve', 'tapestry', 'in today's fast-paced world', 'it's not just X, it's Y' — these are AI fingerprints. OMISSION is the one people miss: ask the AI for a business proposal and it will happily leave out the risks section, because you didn't ask. Tell them: 'Omission errors don't look like errors. They look like a clean document.' Have them write these 4 words down: FACTUAL, CONTEXT, TONE, OMISSION.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shift in thinking: most people try to *catch* errors after. Professionals *prevent* them before. That's a guardrail — same as the barrier on a highway bend. Demo live if you can: run the same prompt twice, once naked and once with guardrails, and let them see the difference. The single most powerful line to teach today is the honesty guardrail — '[NEEDS VERIFICATION]'. It converts a hallucination into a to-do list item. Tell them: 'You are not restricting the AI. You are giving it permission to be honest.' Have everyone add one guardrail to a prompt they already use, right now, in 60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centrepiece of the day — a 90-second checklist that goes between the AI and the outside world. Walk through each letter slowly and give one workplace example per letter. Emphasise 'S — Safe': ask them 'if this document appeared in a newspaper or a court, would I be comfortable?' Tell them the honest truth: this takes about 2 minutes on a one-page document. Two minutes to protect your name. Encourage: 'You already do this instinctively for your own writing. We're just naming it so you do it consistently.' Ask them to save T.R.U.S.T. as a note on their phone before they leave.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Great news — you don't have to do all the checking alone. The AI is often a much better critic than it is a creator. Explain why the *new chat* trick works: in the same conversation, the AI is biased toward agreeing with itself and pleasing you. A fresh chat has no ego in the game. Demo the Red Team prompt live if possible — audiences always react when the AI tears apart the document it just wrote. Caution them clearly: AI self-checking is a *filter*, not a *guarantee*. It narrows what you must verify manually; it does not replace you. Line to land: 'Two AI passes plus one human pass beats ten AI passes.'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seatbelt of the whole week. Be firm but not frightening. Explain simply that most consumer AI tools may use your inputs for training — so treat every chat box like a public noticeboard. Teach the anonymisation habit: replace real names with 'Client A', real figures with placeholders, then swap them back in your own document. Mention Nigeria's NDPA and organisational policy — many workplaces are writing AI rules right now, so encourage them to ask their IT or compliance team. End with the accountability principle: 'When it goes wrong, nobody will ask what the AI did. They will ask what YOU approved.'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energy. Set the task clearly and keep it small — one document, ten minutes. The magic is in step two: turning every mistake they catch into a permanent guardrail, so their prompts get smarter every week. Invite two people to share the worst error they catch — normalising error-hunting builds a healthy culture. Reassure anyone feeling nervous: 'Today wasn't meant to scare you off AI. It was meant to make you the one person in your office who can be trusted with it.' Tease Day 5: tomorrow we combine everything into a workflow you can use Monday morning, and you leave with proof of what you can do. Well done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ctrTitle"/>
          </p:nvPr>
        </p:nvSpPr>
        <p:spPr/>
        <p:txBody>
          <a:bodyPr/>
          <a:lstStyle/>
          <a:p>
            <a:pPr>
              <a:defRPr sz="4000" b="1">
                <a:solidFill>
                  <a:srgbClr val="00E5FF"/>
                </a:solidFill>
                <a:latin typeface="Arial"/>
              </a:defRPr>
            </a:pPr>
            <a:r>
              <a:t>Day 4: Quality Control &amp; Guardrails</a:t>
            </a:r>
          </a:p>
        </p:txBody>
      </p:sp>
      <p:sp>
        <p:nvSpPr>
          <p:cNvPr id="3" name="Subtitle 2"/>
          <p:cNvSpPr>
            <a:spLocks noGrp="1"/>
          </p:cNvSpPr>
          <p:nvPr>
            <p:ph type="subTitle" idx="1"/>
          </p:nvPr>
        </p:nvSpPr>
        <p:spPr/>
        <p:txBody>
          <a:bodyPr/>
          <a:lstStyle/>
          <a:p>
            <a:pPr>
              <a:defRPr sz="2400">
                <a:solidFill>
                  <a:srgbClr val="FFFFFF"/>
                </a:solidFill>
              </a:defRPr>
            </a:pPr>
            <a:r>
              <a:t>AgenticLabs.ng AI Bootcamp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Day 4: Quality Control &amp; Guardrails</a:t>
            </a:r>
          </a:p>
        </p:txBody>
      </p:sp>
      <p:sp>
        <p:nvSpPr>
          <p:cNvPr id="3" name="Content Placeholder 2"/>
          <p:cNvSpPr>
            <a:spLocks noGrp="1"/>
          </p:cNvSpPr>
          <p:nvPr>
            <p:ph idx="1"/>
          </p:nvPr>
        </p:nvSpPr>
        <p:spPr/>
        <p:txBody>
          <a:bodyPr/>
          <a:lstStyle/>
          <a:p/>
          <a:p>
            <a:pPr>
              <a:defRPr sz="2400">
                <a:solidFill>
                  <a:srgbClr val="FFFFFF"/>
                </a:solidFill>
                <a:latin typeface="Arial"/>
              </a:defRPr>
            </a:pPr>
            <a:r>
              <a:t>Yesterday you learned to make AI *do* the work — today you learn to make it *trustworthy*</a:t>
            </a:r>
          </a:p>
          <a:p>
            <a:pPr>
              <a:defRPr sz="2400">
                <a:solidFill>
                  <a:srgbClr val="FFFFFF"/>
                </a:solidFill>
                <a:latin typeface="Arial"/>
              </a:defRPr>
            </a:pPr>
            <a:r>
              <a:t>The difference between an amateur and a professional is not speed, it's reliability</a:t>
            </a:r>
          </a:p>
          <a:p>
            <a:pPr>
              <a:defRPr sz="2400">
                <a:solidFill>
                  <a:srgbClr val="FFFFFF"/>
                </a:solidFill>
                <a:latin typeface="Arial"/>
              </a:defRPr>
            </a:pPr>
            <a:r>
              <a:t>By the end of today: you will never send out an AI-generated document you're unsure about</a:t>
            </a:r>
          </a:p>
          <a:p>
            <a:pPr>
              <a:defRPr sz="2400">
                <a:solidFill>
                  <a:srgbClr val="FFFFFF"/>
                </a:solidFill>
                <a:latin typeface="Arial"/>
              </a:defRPr>
            </a:pPr>
            <a:r>
              <a:t>Big idea: You are the Editor-in-Chief. The AI is your very fast, very confident intern.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Why AI Confidently Gets Things Wrong</a:t>
            </a:r>
          </a:p>
        </p:txBody>
      </p:sp>
      <p:sp>
        <p:nvSpPr>
          <p:cNvPr id="3" name="Content Placeholder 2"/>
          <p:cNvSpPr>
            <a:spLocks noGrp="1"/>
          </p:cNvSpPr>
          <p:nvPr>
            <p:ph idx="1"/>
          </p:nvPr>
        </p:nvSpPr>
        <p:spPr/>
        <p:txBody>
          <a:bodyPr/>
          <a:lstStyle/>
          <a:p/>
          <a:p>
            <a:pPr>
              <a:defRPr sz="2400">
                <a:solidFill>
                  <a:srgbClr val="FFFFFF"/>
                </a:solidFill>
                <a:latin typeface="Arial"/>
              </a:defRPr>
            </a:pPr>
            <a:r>
              <a:t>AI predicts what *sounds right*, not what *is right* — it is a pattern machine, not a truth machine</a:t>
            </a:r>
          </a:p>
          <a:p>
            <a:pPr>
              <a:defRPr sz="2400">
                <a:solidFill>
                  <a:srgbClr val="FFFFFF"/>
                </a:solidFill>
                <a:latin typeface="Arial"/>
              </a:defRPr>
            </a:pPr>
            <a:r>
              <a:t>'Hallucination' = the AI inventing facts, names, laws, statistics or citations that don't exist</a:t>
            </a:r>
          </a:p>
          <a:p>
            <a:pPr>
              <a:defRPr sz="2400">
                <a:solidFill>
                  <a:srgbClr val="FFFFFF"/>
                </a:solidFill>
                <a:latin typeface="Arial"/>
              </a:defRPr>
            </a:pPr>
            <a:r>
              <a:t>It never says 'I'm not sure' unless you ask it to — confidence is its default setting</a:t>
            </a:r>
          </a:p>
          <a:p>
            <a:pPr>
              <a:defRPr sz="2400">
                <a:solidFill>
                  <a:srgbClr val="FFFFFF"/>
                </a:solidFill>
                <a:latin typeface="Arial"/>
              </a:defRPr>
            </a:pPr>
            <a:r>
              <a:t>Common Nigerian workplace traps: outdated CBN circulars, invented case law, wrong NGN figures, fake research citations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The 4 Failure Types You Must Learn to Spot</a:t>
            </a:r>
          </a:p>
        </p:txBody>
      </p:sp>
      <p:sp>
        <p:nvSpPr>
          <p:cNvPr id="3" name="Content Placeholder 2"/>
          <p:cNvSpPr>
            <a:spLocks noGrp="1"/>
          </p:cNvSpPr>
          <p:nvPr>
            <p:ph idx="1"/>
          </p:nvPr>
        </p:nvSpPr>
        <p:spPr/>
        <p:txBody>
          <a:bodyPr/>
          <a:lstStyle/>
          <a:p/>
          <a:p>
            <a:pPr>
              <a:defRPr sz="2400">
                <a:solidFill>
                  <a:srgbClr val="FFFFFF"/>
                </a:solidFill>
                <a:latin typeface="Arial"/>
              </a:defRPr>
            </a:pPr>
            <a:r>
              <a:t>FACTUAL: invented numbers, dates, names, laws, sources — anything you could Google</a:t>
            </a:r>
          </a:p>
          <a:p>
            <a:pPr>
              <a:defRPr sz="2400">
                <a:solidFill>
                  <a:srgbClr val="FFFFFF"/>
                </a:solidFill>
                <a:latin typeface="Arial"/>
              </a:defRPr>
            </a:pPr>
            <a:r>
              <a:t>CONTEXT: technically correct, but wrong for Nigeria, wrong for your industry, wrong for your audience</a:t>
            </a:r>
          </a:p>
          <a:p>
            <a:pPr>
              <a:defRPr sz="2400">
                <a:solidFill>
                  <a:srgbClr val="FFFFFF"/>
                </a:solidFill>
                <a:latin typeface="Arial"/>
              </a:defRPr>
            </a:pPr>
            <a:r>
              <a:t>TONE: too American, too formal, too casual, or 'obviously written by ChatGPT'</a:t>
            </a:r>
          </a:p>
          <a:p>
            <a:pPr>
              <a:defRPr sz="2400">
                <a:solidFill>
                  <a:srgbClr val="FFFFFF"/>
                </a:solidFill>
                <a:latin typeface="Arial"/>
              </a:defRPr>
            </a:pPr>
            <a:r>
              <a:t>OMISSION: the most dangerous — what the AI quietly *left out* (risks, exceptions, disclaimers)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Guardrails: Building the Fence Before You Need It</a:t>
            </a:r>
          </a:p>
        </p:txBody>
      </p:sp>
      <p:sp>
        <p:nvSpPr>
          <p:cNvPr id="3" name="Content Placeholder 2"/>
          <p:cNvSpPr>
            <a:spLocks noGrp="1"/>
          </p:cNvSpPr>
          <p:nvPr>
            <p:ph idx="1"/>
          </p:nvPr>
        </p:nvSpPr>
        <p:spPr/>
        <p:txBody>
          <a:bodyPr/>
          <a:lstStyle/>
          <a:p/>
          <a:p>
            <a:pPr>
              <a:defRPr sz="2400">
                <a:solidFill>
                  <a:srgbClr val="FFFFFF"/>
                </a:solidFill>
                <a:latin typeface="Arial"/>
              </a:defRPr>
            </a:pPr>
            <a:r>
              <a:t>A guardrail is a rule you give the AI *in advance* to stop predictable mistakes</a:t>
            </a:r>
          </a:p>
          <a:p>
            <a:pPr>
              <a:defRPr sz="2400">
                <a:solidFill>
                  <a:srgbClr val="FFFFFF"/>
                </a:solidFill>
                <a:latin typeface="Arial"/>
              </a:defRPr>
            </a:pPr>
            <a:r>
              <a:t>Boundary: 'Only use the document I pasted. Do not add outside information.'</a:t>
            </a:r>
          </a:p>
          <a:p>
            <a:pPr>
              <a:defRPr sz="2400">
                <a:solidFill>
                  <a:srgbClr val="FFFFFF"/>
                </a:solidFill>
                <a:latin typeface="Arial"/>
              </a:defRPr>
            </a:pPr>
            <a:r>
              <a:t>Honesty: 'If you are unsure or lack data, write [NEEDS VERIFICATION] instead of guessing.'</a:t>
            </a:r>
          </a:p>
          <a:p>
            <a:pPr>
              <a:defRPr sz="2400">
                <a:solidFill>
                  <a:srgbClr val="FFFFFF"/>
                </a:solidFill>
                <a:latin typeface="Arial"/>
              </a:defRPr>
            </a:pPr>
            <a:r>
              <a:t>Format: 'Maximum 200 words. Nigerian English. No bullet points. No em-dashes.'</a:t>
            </a:r>
          </a:p>
          <a:p>
            <a:pPr>
              <a:defRPr sz="2400">
                <a:solidFill>
                  <a:srgbClr val="FFFFFF"/>
                </a:solidFill>
                <a:latin typeface="Arial"/>
              </a:defRPr>
            </a:pPr>
            <a:r>
              <a:t>Role: 'You are a cautious compliance officer, not a marketer.'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The T.R.U.S.T. Review Framework</a:t>
            </a:r>
          </a:p>
        </p:txBody>
      </p:sp>
      <p:sp>
        <p:nvSpPr>
          <p:cNvPr id="3" name="Content Placeholder 2"/>
          <p:cNvSpPr>
            <a:spLocks noGrp="1"/>
          </p:cNvSpPr>
          <p:nvPr>
            <p:ph idx="1"/>
          </p:nvPr>
        </p:nvSpPr>
        <p:spPr/>
        <p:txBody>
          <a:bodyPr/>
          <a:lstStyle/>
          <a:p/>
          <a:p>
            <a:pPr>
              <a:defRPr sz="2400">
                <a:solidFill>
                  <a:srgbClr val="FFFFFF"/>
                </a:solidFill>
                <a:latin typeface="Arial"/>
              </a:defRPr>
            </a:pPr>
            <a:r>
              <a:t>T — Trace: Can I find the source for every fact, number and name?</a:t>
            </a:r>
          </a:p>
          <a:p>
            <a:pPr>
              <a:defRPr sz="2400">
                <a:solidFill>
                  <a:srgbClr val="FFFFFF"/>
                </a:solidFill>
                <a:latin typeface="Arial"/>
              </a:defRPr>
            </a:pPr>
            <a:r>
              <a:t>R — Relevant: Is this right for MY country, MY industry, MY reader?</a:t>
            </a:r>
          </a:p>
          <a:p>
            <a:pPr>
              <a:defRPr sz="2400">
                <a:solidFill>
                  <a:srgbClr val="FFFFFF"/>
                </a:solidFill>
                <a:latin typeface="Arial"/>
              </a:defRPr>
            </a:pPr>
            <a:r>
              <a:t>U — Understandable: Would a busy colleague get this on one read?</a:t>
            </a:r>
          </a:p>
          <a:p>
            <a:pPr>
              <a:defRPr sz="2400">
                <a:solidFill>
                  <a:srgbClr val="FFFFFF"/>
                </a:solidFill>
                <a:latin typeface="Arial"/>
              </a:defRPr>
            </a:pPr>
            <a:r>
              <a:t>S — Safe: Any legal, financial, privacy or reputational risk if this goes public?</a:t>
            </a:r>
          </a:p>
          <a:p>
            <a:pPr>
              <a:defRPr sz="2400">
                <a:solidFill>
                  <a:srgbClr val="FFFFFF"/>
                </a:solidFill>
                <a:latin typeface="Arial"/>
              </a:defRPr>
            </a:pPr>
            <a:r>
              <a:t>T — Tone: Does this sound like me and my organisation — or like a robot?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Make the AI Check Its Own Work</a:t>
            </a:r>
          </a:p>
        </p:txBody>
      </p:sp>
      <p:sp>
        <p:nvSpPr>
          <p:cNvPr id="3" name="Content Placeholder 2"/>
          <p:cNvSpPr>
            <a:spLocks noGrp="1"/>
          </p:cNvSpPr>
          <p:nvPr>
            <p:ph idx="1"/>
          </p:nvPr>
        </p:nvSpPr>
        <p:spPr/>
        <p:txBody>
          <a:bodyPr/>
          <a:lstStyle/>
          <a:p/>
          <a:p>
            <a:pPr>
              <a:defRPr sz="2400">
                <a:solidFill>
                  <a:srgbClr val="FFFFFF"/>
                </a:solidFill>
                <a:latin typeface="Arial"/>
              </a:defRPr>
            </a:pPr>
            <a:r>
              <a:t>The Critic Pass: 'Review the draft above. List every claim that needs verification.'</a:t>
            </a:r>
          </a:p>
          <a:p>
            <a:pPr>
              <a:defRPr sz="2400">
                <a:solidFill>
                  <a:srgbClr val="FFFFFF"/>
                </a:solidFill>
                <a:latin typeface="Arial"/>
              </a:defRPr>
            </a:pPr>
            <a:r>
              <a:t>The Red Team: 'You are a hostile reviewer. Find 5 weaknesses in this document.'</a:t>
            </a:r>
          </a:p>
          <a:p>
            <a:pPr>
              <a:defRPr sz="2400">
                <a:solidFill>
                  <a:srgbClr val="FFFFFF"/>
                </a:solidFill>
                <a:latin typeface="Arial"/>
              </a:defRPr>
            </a:pPr>
            <a:r>
              <a:t>The Fresh-Eyes Test: paste output into a NEW chat and ask 'What's wrong with this?'</a:t>
            </a:r>
          </a:p>
          <a:p>
            <a:pPr>
              <a:defRPr sz="2400">
                <a:solidFill>
                  <a:srgbClr val="FFFFFF"/>
                </a:solidFill>
                <a:latin typeface="Arial"/>
              </a:defRPr>
            </a:pPr>
            <a:r>
              <a:t>The Confidence Score: 'Rate each section High/Medium/Low confidence and explain why.'</a:t>
            </a:r>
          </a:p>
          <a:p>
            <a:pPr>
              <a:defRPr sz="2400">
                <a:solidFill>
                  <a:srgbClr val="FFFFFF"/>
                </a:solidFill>
                <a:latin typeface="Arial"/>
              </a:defRPr>
            </a:pPr>
            <a:r>
              <a:t>Rule: never let the AI grade itself in the same conversation where it was praised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Know What You Must NEVER Delegate</a:t>
            </a:r>
          </a:p>
        </p:txBody>
      </p:sp>
      <p:sp>
        <p:nvSpPr>
          <p:cNvPr id="3" name="Content Placeholder 2"/>
          <p:cNvSpPr>
            <a:spLocks noGrp="1"/>
          </p:cNvSpPr>
          <p:nvPr>
            <p:ph idx="1"/>
          </p:nvPr>
        </p:nvSpPr>
        <p:spPr/>
        <p:txBody>
          <a:bodyPr/>
          <a:lstStyle/>
          <a:p/>
          <a:p>
            <a:pPr>
              <a:defRPr sz="2400">
                <a:solidFill>
                  <a:srgbClr val="FFFFFF"/>
                </a:solidFill>
                <a:latin typeface="Arial"/>
              </a:defRPr>
            </a:pPr>
            <a:r>
              <a:t>Never paste: customer data, staff records, salaries, medical info, unreleased financials, passwords</a:t>
            </a:r>
          </a:p>
          <a:p>
            <a:pPr>
              <a:defRPr sz="2400">
                <a:solidFill>
                  <a:srgbClr val="FFFFFF"/>
                </a:solidFill>
                <a:latin typeface="Arial"/>
              </a:defRPr>
            </a:pPr>
            <a:r>
              <a:t>Never auto-send: legal advice, medical guidance, financial commitments, HR disciplinary letters</a:t>
            </a:r>
          </a:p>
          <a:p>
            <a:pPr>
              <a:defRPr sz="2400">
                <a:solidFill>
                  <a:srgbClr val="FFFFFF"/>
                </a:solidFill>
                <a:latin typeface="Arial"/>
              </a:defRPr>
            </a:pPr>
            <a:r>
              <a:t>Never claim: AI output as verified research without checking every source yourself</a:t>
            </a:r>
          </a:p>
          <a:p>
            <a:pPr>
              <a:defRPr sz="2400">
                <a:solidFill>
                  <a:srgbClr val="FFFFFF"/>
                </a:solidFill>
                <a:latin typeface="Arial"/>
              </a:defRPr>
            </a:pPr>
            <a:r>
              <a:t>Always keep: a human signature and a human name on anything that leaves the building</a:t>
            </a:r>
          </a:p>
          <a:p>
            <a:pPr>
              <a:defRPr sz="2400">
                <a:solidFill>
                  <a:srgbClr val="FFFFFF"/>
                </a:solidFill>
                <a:latin typeface="Arial"/>
              </a:defRPr>
            </a:pPr>
            <a:r>
              <a:t>Ask before you paste: 'Would I be comfortable if this appeared on a public website?'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Your Practice Task &amp; Tomorrow</a:t>
            </a:r>
          </a:p>
        </p:txBody>
      </p:sp>
      <p:sp>
        <p:nvSpPr>
          <p:cNvPr id="3" name="Content Placeholder 2"/>
          <p:cNvSpPr>
            <a:spLocks noGrp="1"/>
          </p:cNvSpPr>
          <p:nvPr>
            <p:ph idx="1"/>
          </p:nvPr>
        </p:nvSpPr>
        <p:spPr/>
        <p:txBody>
          <a:bodyPr/>
          <a:lstStyle/>
          <a:p/>
          <a:p>
            <a:pPr>
              <a:defRPr sz="2400">
                <a:solidFill>
                  <a:srgbClr val="FFFFFF"/>
                </a:solidFill>
                <a:latin typeface="Arial"/>
              </a:defRPr>
            </a:pPr>
            <a:r>
              <a:t>Task: take yesterday's output, run it through T.R.U.S.T., and list every fix you made</a:t>
            </a:r>
          </a:p>
          <a:p>
            <a:pPr>
              <a:defRPr sz="2400">
                <a:solidFill>
                  <a:srgbClr val="FFFFFF"/>
                </a:solidFill>
                <a:latin typeface="Arial"/>
              </a:defRPr>
            </a:pPr>
            <a:r>
              <a:t>Then rewrite the original prompt with 2 guardrails so those errors never happen again</a:t>
            </a:r>
          </a:p>
          <a:p>
            <a:pPr>
              <a:defRPr sz="2400">
                <a:solidFill>
                  <a:srgbClr val="FFFFFF"/>
                </a:solidFill>
                <a:latin typeface="Arial"/>
              </a:defRPr>
            </a:pPr>
            <a:r>
              <a:t>Reflect: which failure type do YOU personally miss most — Factual, Context, Tone or Omission?</a:t>
            </a:r>
          </a:p>
          <a:p>
            <a:pPr>
              <a:defRPr sz="2400">
                <a:solidFill>
                  <a:srgbClr val="FFFFFF"/>
                </a:solidFill>
                <a:latin typeface="Arial"/>
              </a:defRPr>
            </a:pPr>
            <a:r>
              <a:t>Tomorrow (Day 5): putting it all together — building your personal AI workflow and portfolio</a:t>
            </a:r>
          </a:p>
          <a:p>
            <a:pPr>
              <a:defRPr sz="2400">
                <a:solidFill>
                  <a:srgbClr val="FFFFFF"/>
                </a:solidFill>
                <a:latin typeface="Arial"/>
              </a:defRPr>
            </a:pPr>
            <a:r>
              <a:t>Remember: your judgement is the product. The AI is just the printer.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